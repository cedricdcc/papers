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784" cy="4919472"/>
          </a:xfrm>
          <a:prstGeom prst="rect">
            <a:avLst/>
          </a:prstGeom>
          <a:solidFill>
            <a:srgbClr val="91C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l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069848"/>
            <a:ext cx="10273975" cy="2779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00080" y="1956815"/>
            <a:ext cx="4114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3057A5"/>
                </a:solidFill>
                <a:latin typeface="Arial"/>
              </a:rPr>
              <a:t>vliz.be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0904" y="5212080"/>
            <a:ext cx="2651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1B7BC"/>
                </a:solidFill>
                <a:latin typeface="Arial"/>
              </a:rPr>
              <a:t>MULTILINGUAL MARINE VOCABULARIES   |   mtt.vliz.be   |   FOR TRANSLATORS &amp; ONTOLOGY STEWARDS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0904" y="5870448"/>
            <a:ext cx="26517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3057A5"/>
                </a:solidFill>
                <a:latin typeface="Arial"/>
              </a:rPr>
              <a:t>Marine Term Translations (MTT): Continuous LDES Ingestion, Collaborative Multilingual Curation, and Downstream Vocabulary Widgets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4" y="7863840"/>
            <a:ext cx="2651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1F20"/>
                </a:solidFill>
                <a:latin typeface="Arial"/>
              </a:rPr>
              <a:t>Cedric Decruw</a:t>
            </a:r>
          </a:p>
          <a:p>
            <a:pPr>
              <a:defRPr sz="190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rgbClr val="64748B"/>
                </a:solidFill>
                <a:latin typeface="Arial"/>
              </a:rPr>
              <a:t>Flanders Marine Institute (VLIZ), InnovOcean Campus, 8400 Oostende, Belgium   |   cedric.decruw@vliz.be   |   ORCID: 0000-0001-6387-5988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9418320"/>
            <a:ext cx="28721304" cy="12115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9601200"/>
            <a:ext cx="279897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057A5"/>
                </a:solidFill>
                <a:latin typeface="Arial"/>
              </a:rPr>
              <a:t>Central Architecture: Continuous LDES Ingestion, MTT Curation &amp; vocab.vliz.be Widgets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1" y="10405872"/>
            <a:ext cx="27249120" cy="97065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20253960"/>
            <a:ext cx="279897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>
                <a:solidFill>
                  <a:srgbClr val="64748B"/>
                </a:solidFill>
                <a:latin typeface="Arial"/>
              </a:defRPr>
            </a:pPr>
            <a:r>
              <a:rPr b="1">
                <a:solidFill>
                  <a:srgbClr val="64748B"/>
                </a:solidFill>
                <a:latin typeface="Arial"/>
              </a:rPr>
              <a:t>Figure 1: </a:t>
            </a:r>
            <a:r>
              <a:rPr>
                <a:solidFill>
                  <a:srgbClr val="64748B"/>
                </a:solidFill>
                <a:latin typeface="Arial"/>
              </a:rPr>
              <a:t>Continuous semantic pipeline: Upstream LDES ingestion → mtt.vliz.be translation workbench (AI suggestions + ORCID peer gate) → Outgoing LDES publication → Live reuse in vocab.vliz.be widgets.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1899880"/>
            <a:ext cx="9293351" cy="18288000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91216" y="21899880"/>
            <a:ext cx="9293351" cy="18288000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205192" y="21899880"/>
            <a:ext cx="9293351" cy="18288000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2128480"/>
            <a:ext cx="8653272" cy="763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3057A5"/>
                </a:solidFill>
                <a:latin typeface="Arial"/>
              </a:rPr>
              <a:t>1. For Ontology Stewards: Ingestion &amp; Sync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Operational Context:</a:t>
            </a:r>
          </a:p>
          <a:p>
            <a:pPr>
              <a:spcAft>
                <a:spcPts val="3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• Marine registries (e.g. BODC P02, SeaDataNet) publish authoritative terms in English.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• Static snapshot downloads cause sync latency, manual drift, and URI churn.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Research Question (RQ):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i="1">
                <a:solidFill>
                  <a:srgbClr val="1E293B"/>
                </a:solidFill>
                <a:latin typeface="Arial"/>
              </a:rPr>
              <a:t>• How to ingest ontologies and enrich them multilingually while preserving concept identities?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Hypothesis &amp; Prediction: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i="1">
                <a:solidFill>
                  <a:srgbClr val="1E293B"/>
                </a:solidFill>
                <a:latin typeface="Arial"/>
              </a:rPr>
              <a:t>• Streaming LDES ingestion with decoupled concept modeling eliminates sync lag without URI churn.</a:t>
            </a:r>
          </a:p>
          <a:p>
            <a:r>
              <a:rPr sz="2200" b="1">
                <a:solidFill>
                  <a:srgbClr val="1E293B"/>
                </a:solidFill>
                <a:latin typeface="Arial"/>
              </a:rPr>
              <a:t>Platform Value for Stewards: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9900880"/>
            <a:ext cx="8653272" cy="228600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Continuous LDES Ingestion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Ingests upstream LDES event feeds, tracking term updates incrementally without bulk downloads.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470344"/>
            <a:ext cx="8653272" cy="228600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Zero Concept URI Churn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Persistent concept URIs remain immutable as multilingual labels evolve, ensuring stable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5039808"/>
            <a:ext cx="8653272" cy="228600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Institutional Data Sovereignty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100% self-hostable open stack (React, Node.js, PostgreSQL) deployable on local infrastructure.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609272"/>
            <a:ext cx="8653272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Standards-Based Interoperability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Dual export pathways: CSV, SKOS, JSON-LD, and continuous Linked Data Event Streams.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1256" y="22128480"/>
            <a:ext cx="865327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3057A5"/>
                </a:solidFill>
                <a:latin typeface="Arial"/>
              </a:rPr>
              <a:t>2. For Translators: Curation &amp; Credit</a:t>
            </a: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Arial"/>
              </a:rPr>
              <a:t>The Translation Bottleneck:</a:t>
            </a:r>
          </a:p>
          <a:p>
            <a:pPr>
              <a:spcAft>
                <a:spcPts val="3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• Domain experts are deterred by complex semantic tools (Protégé, raw RDF) and unstructured spreadsheets.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i="0">
                <a:solidFill>
                  <a:srgbClr val="1E293B"/>
                </a:solidFill>
                <a:latin typeface="Arial"/>
              </a:rPr>
              <a:t>• Linguistic translations often go uncredited in academic pipelines.</a:t>
            </a:r>
          </a:p>
          <a:p>
            <a:r>
              <a:rPr sz="2200" b="1">
                <a:solidFill>
                  <a:srgbClr val="1E293B"/>
                </a:solidFill>
                <a:latin typeface="Arial"/>
              </a:rPr>
              <a:t>The mtt.vliz.be Workbench: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11256" y="26517600"/>
            <a:ext cx="8653272" cy="2057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1. Side-by-Side Comparison UI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Distraction-free browser interface comparing source terms directly with translations.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11256" y="28803600"/>
            <a:ext cx="8653272" cy="2057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2. AI-Assisted Candidate Drafting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Contextual suggestions accelerate initial drafting velocity by 2× across batches.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11256" y="31089600"/>
            <a:ext cx="8653272" cy="2057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3. Human-in-the-Loop Review Gate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Machine suggestions remain provisional until validated by domain specialists.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11256" y="33375600"/>
            <a:ext cx="8653272" cy="2057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4. Citable ORCID Attribution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Every approved label is bound to ORCID, guaranteeing citable academic credit.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1256" y="35615880"/>
            <a:ext cx="8653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Governance: </a:t>
            </a:r>
            <a:r>
              <a:rPr>
                <a:solidFill>
                  <a:srgbClr val="1E293B"/>
                </a:solidFill>
                <a:latin typeface="Arial"/>
              </a:rPr>
              <a:t>Role-aware permissions and complete version audit logs.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11256" y="36758880"/>
            <a:ext cx="8653272" cy="3136392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Community Participation &amp; Impact</a:t>
            </a:r>
          </a:p>
          <a:p>
            <a:pPr>
              <a:spcAft>
                <a:spcPts val="20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Translators: </a:t>
            </a:r>
            <a:r>
              <a:rPr b="0">
                <a:solidFill>
                  <a:srgbClr val="1E293B"/>
                </a:solidFill>
                <a:latin typeface="Arial"/>
              </a:rPr>
              <a:t>Review and curate terminology in your native language.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Stewards: </a:t>
            </a:r>
            <a:r>
              <a:rPr b="0">
                <a:solidFill>
                  <a:srgbClr val="1E293B"/>
                </a:solidFill>
                <a:latin typeface="Arial"/>
              </a:rPr>
              <a:t>Register ontologies for automated continuous ingestion.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25232" y="22128480"/>
            <a:ext cx="8653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3057A5"/>
                </a:solidFill>
                <a:latin typeface="Arial"/>
              </a:rPr>
              <a:t>3. Outgoing LDES &amp; vocab.vliz.be Widgets</a:t>
            </a:r>
          </a:p>
          <a:p>
            <a:r>
              <a:rPr sz="2200" b="1">
                <a:solidFill>
                  <a:srgbClr val="1E293B"/>
                </a:solidFill>
                <a:latin typeface="Arial"/>
              </a:rPr>
              <a:t>Downstream Delivery Pipeline: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525232" y="24003000"/>
            <a:ext cx="8653272" cy="214884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Outgoing LDES Stream Broadcast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Approved translations emitted as immutable RDF event feeds, eliminating bulk snapshot downloads.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25232" y="26380440"/>
            <a:ext cx="8653272" cy="214884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 w="22225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 bIns="164592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057A5"/>
                </a:solidFill>
                <a:latin typeface="Arial"/>
              </a:rPr>
              <a:t>vocab.vliz.be Widgets Endgoal</a:t>
            </a:r>
          </a:p>
          <a:p>
            <a:pPr>
              <a:spcAft>
                <a:spcPts val="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0">
                <a:solidFill>
                  <a:srgbClr val="1E293B"/>
                </a:solidFill>
                <a:latin typeface="Arial"/>
              </a:rPr>
              <a:t>Curated terms power drop-in autocomplete and search widgets across marine portals.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25232" y="28712160"/>
            <a:ext cx="8653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93B"/>
                </a:solidFill>
                <a:latin typeface="Arial"/>
              </a:rPr>
              <a:t>Empirical Results (BODC P02 Beta):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525232" y="29352240"/>
            <a:ext cx="4162044" cy="1874519"/>
          </a:xfrm>
          <a:prstGeom prst="roundRect">
            <a:avLst>
              <a:gd name="adj" fmla="val 8000"/>
            </a:avLst>
          </a:prstGeom>
          <a:solidFill>
            <a:srgbClr val="E6F7F8"/>
          </a:solidFill>
          <a:ln w="25400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3057A5"/>
                </a:solidFill>
                <a:latin typeface="Arial"/>
              </a:rPr>
              <a:t>25%</a:t>
            </a:r>
          </a:p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1E293B"/>
                </a:solidFill>
                <a:latin typeface="Arial"/>
              </a:rPr>
              <a:t>P02 Translated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16460" y="29352240"/>
            <a:ext cx="4162044" cy="187451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2540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31B7BC"/>
                </a:solidFill>
                <a:latin typeface="Arial"/>
              </a:rPr>
              <a:t>2×</a:t>
            </a:r>
          </a:p>
          <a:p>
            <a:pPr algn="ctr">
              <a:defRPr sz="185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1E293B"/>
                </a:solidFill>
                <a:latin typeface="Arial"/>
              </a:rPr>
              <a:t>Drafting Speed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25232" y="31409640"/>
            <a:ext cx="865327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• Supported Hypothesis: </a:t>
            </a:r>
            <a:r>
              <a:rPr>
                <a:solidFill>
                  <a:srgbClr val="1E293B"/>
                </a:solidFill>
                <a:latin typeface="Arial"/>
              </a:rPr>
              <a:t>Zero URI churn; continuous sync proven.</a:t>
            </a:r>
          </a:p>
          <a:p>
            <a:pPr>
              <a:spcAft>
                <a:spcPts val="60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• 1 Study Limitation: </a:t>
            </a:r>
            <a:r>
              <a:rPr>
                <a:solidFill>
                  <a:srgbClr val="1E293B"/>
                </a:solidFill>
                <a:latin typeface="Arial"/>
              </a:rPr>
              <a:t>Throughput bounded by reviewer bandwidth.</a:t>
            </a:r>
          </a:p>
          <a:p>
            <a:pPr>
              <a:spcAft>
                <a:spcPts val="0"/>
              </a:spcAft>
              <a:defRPr sz="190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• Actionable Future Direction: </a:t>
            </a:r>
            <a:r>
              <a:rPr>
                <a:solidFill>
                  <a:srgbClr val="1E293B"/>
                </a:solidFill>
                <a:latin typeface="Arial"/>
              </a:rPr>
              <a:t>Deploy automated confidence triage.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525232" y="34930080"/>
            <a:ext cx="8653272" cy="4965192"/>
          </a:xfrm>
          <a:prstGeom prst="roundRect">
            <a:avLst>
              <a:gd name="adj" fmla="val 5000"/>
            </a:avLst>
          </a:prstGeom>
          <a:solidFill>
            <a:srgbClr val="E6F7F8"/>
          </a:solidFill>
          <a:ln w="22225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708112" y="35039808"/>
            <a:ext cx="82875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Test the Live Platform &amp; Widgets (Scan QR Code)</a:t>
            </a:r>
          </a:p>
        </p:txBody>
      </p:sp>
      <p:pic>
        <p:nvPicPr>
          <p:cNvPr id="37" name="Picture 36" descr="qr_mtt_vliz_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8808" y="35679888"/>
            <a:ext cx="3246120" cy="32461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0708112" y="39026592"/>
            <a:ext cx="828751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mtt.vliz.be   |   https://mtt.vliz.be/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0507920"/>
            <a:ext cx="287213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0645080"/>
            <a:ext cx="20574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References: </a:t>
            </a:r>
            <a:r>
              <a:rPr>
                <a:solidFill>
                  <a:srgbClr val="1E293B"/>
                </a:solidFill>
                <a:latin typeface="Arial"/>
              </a:rPr>
              <a:t>[1] Wilkinson et al. (2016). Sci. Data.    [2] BODC (2024). NERC P02.    [3] Van de Vyvere et al. (2022). LDES.</a:t>
            </a:r>
          </a:p>
          <a:p>
            <a:pPr>
              <a:defRPr sz="180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AI Disclosure: </a:t>
            </a:r>
            <a:r>
              <a:rPr>
                <a:solidFill>
                  <a:srgbClr val="1E293B"/>
                </a:solidFill>
                <a:latin typeface="Arial"/>
              </a:rPr>
              <a:t>Assisted with language polish and schematic layout; system design and evaluation by the author.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000464" y="40645080"/>
            <a:ext cx="71780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  <a:defRPr sz="185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Flanders Marine Institute (VLIZ)</a:t>
            </a:r>
          </a:p>
          <a:p>
            <a:pPr algn="r">
              <a:defRPr sz="1800">
                <a:solidFill>
                  <a:srgbClr val="64748B"/>
                </a:solidFill>
                <a:latin typeface="Arial"/>
              </a:defRPr>
            </a:pPr>
            <a:r>
              <a:rPr>
                <a:solidFill>
                  <a:srgbClr val="64748B"/>
                </a:solidFill>
                <a:latin typeface="Arial"/>
              </a:rPr>
              <a:t>mtt.vliz.be   |   vocab.vliz.be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