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650" y="-40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_Background"/>
          <p:cNvSpPr/>
          <p:nvPr/>
        </p:nvSpPr>
        <p:spPr>
          <a:xfrm>
            <a:off x="0" y="0"/>
            <a:ext cx="30275784" cy="42803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op_Banner_Background"/>
          <p:cNvSpPr/>
          <p:nvPr/>
        </p:nvSpPr>
        <p:spPr>
          <a:xfrm>
            <a:off x="0" y="0"/>
            <a:ext cx="30275784" cy="3840480"/>
          </a:xfrm>
          <a:prstGeom prst="rect">
            <a:avLst/>
          </a:prstGeom>
          <a:solidFill>
            <a:srgbClr val="91C8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VLIZ_Logo" descr="vl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77240"/>
            <a:ext cx="8448992" cy="2286000"/>
          </a:xfrm>
          <a:prstGeom prst="rect">
            <a:avLst/>
          </a:prstGeom>
        </p:spPr>
      </p:pic>
      <p:sp>
        <p:nvSpPr>
          <p:cNvPr id="5" name="Banner_URL"/>
          <p:cNvSpPr txBox="1"/>
          <p:nvPr/>
        </p:nvSpPr>
        <p:spPr>
          <a:xfrm>
            <a:off x="23326344" y="137160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600" b="1">
                <a:solidFill>
                  <a:srgbClr val="3057A5"/>
                </a:solidFill>
                <a:latin typeface="Arial"/>
              </a:rPr>
              <a:t>vliz.be</a:t>
            </a:r>
          </a:p>
        </p:txBody>
      </p:sp>
      <p:sp>
        <p:nvSpPr>
          <p:cNvPr id="6" name="Header_Subtitle"/>
          <p:cNvSpPr txBox="1"/>
          <p:nvPr/>
        </p:nvSpPr>
        <p:spPr>
          <a:xfrm>
            <a:off x="1463040" y="4114800"/>
            <a:ext cx="12457321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>
                <a:solidFill>
                  <a:srgbClr val="31B7BC"/>
                </a:solidFill>
                <a:latin typeface="Arial"/>
              </a:rPr>
              <a:t>OPEN SCIENCE &amp; SEMANTIC INTEROPERABILITY   |   LINKSET USAGE PATTERNS </a:t>
            </a:r>
          </a:p>
        </p:txBody>
      </p:sp>
      <p:sp>
        <p:nvSpPr>
          <p:cNvPr id="7" name="Header_Main_Title"/>
          <p:cNvSpPr txBox="1"/>
          <p:nvPr/>
        </p:nvSpPr>
        <p:spPr>
          <a:xfrm>
            <a:off x="1463040" y="4617720"/>
            <a:ext cx="2734970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3057A5"/>
                </a:solidFill>
                <a:latin typeface="Arial"/>
              </a:rPr>
              <a:t>Radical Transparency: A Vision for Scalable Interoperability</a:t>
            </a:r>
          </a:p>
        </p:txBody>
      </p:sp>
      <p:sp>
        <p:nvSpPr>
          <p:cNvPr id="8" name="Header_Authors"/>
          <p:cNvSpPr txBox="1"/>
          <p:nvPr/>
        </p:nvSpPr>
        <p:spPr>
          <a:xfrm>
            <a:off x="1463040" y="6172200"/>
            <a:ext cx="2734970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1F20"/>
                </a:solidFill>
                <a:latin typeface="Arial"/>
              </a:rPr>
              <a:t>Marc Portier*, Bram Ulrichts, Cedric Decruw, Hamideh Baggali, Joachim Nielandt, Joanna Goley, Laurian Van Maldeghem, Katrina Exter, Cyrielle Delvenne, Lennert Tyberghein</a:t>
            </a:r>
          </a:p>
        </p:txBody>
      </p:sp>
      <p:sp>
        <p:nvSpPr>
          <p:cNvPr id="9" name="Header_Affiliations"/>
          <p:cNvSpPr txBox="1"/>
          <p:nvPr/>
        </p:nvSpPr>
        <p:spPr>
          <a:xfrm>
            <a:off x="1463040" y="6766560"/>
            <a:ext cx="27349704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64748B"/>
                </a:solidFill>
                <a:latin typeface="Arial"/>
              </a:rPr>
              <a:t>Flanders Marine Institute (VLIZ), InnovOcean Campus, Ostend, Belgium   |   *Corresponding Author: marc.portier@vliz.be   |   open-science.vliz.be</a:t>
            </a:r>
          </a:p>
        </p:txBody>
      </p:sp>
      <p:sp>
        <p:nvSpPr>
          <p:cNvPr id="10" name="Card1_Context_Container"/>
          <p:cNvSpPr/>
          <p:nvPr/>
        </p:nvSpPr>
        <p:spPr>
          <a:xfrm>
            <a:off x="1463040" y="7406640"/>
            <a:ext cx="13309092" cy="9509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Card1_Title"/>
          <p:cNvSpPr txBox="1"/>
          <p:nvPr/>
        </p:nvSpPr>
        <p:spPr>
          <a:xfrm>
            <a:off x="4378071" y="7543800"/>
            <a:ext cx="77533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3057A5"/>
                </a:solidFill>
                <a:latin typeface="Arial"/>
              </a:rPr>
              <a:t>1. Context, Research Question &amp; Hypothesis</a:t>
            </a:r>
          </a:p>
        </p:txBody>
      </p:sp>
      <p:sp>
        <p:nvSpPr>
          <p:cNvPr id="12" name="Card1_Bullets"/>
          <p:cNvSpPr txBox="1"/>
          <p:nvPr/>
        </p:nvSpPr>
        <p:spPr>
          <a:xfrm>
            <a:off x="2011680" y="8158460"/>
            <a:ext cx="1294333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E293B"/>
                </a:solidFill>
                <a:latin typeface="Arial"/>
              </a:rPr>
              <a:t>The Interoperability Bottleneck in Open Science:</a:t>
            </a:r>
            <a:endParaRPr lang="en-US" sz="2200" b="1" dirty="0">
              <a:solidFill>
                <a:srgbClr val="1E293B"/>
              </a:solidFill>
              <a:latin typeface="Arial"/>
            </a:endParaRPr>
          </a:p>
          <a:p>
            <a:endParaRPr sz="2200" b="1" dirty="0">
              <a:solidFill>
                <a:srgbClr val="1E293B"/>
              </a:solidFill>
              <a:latin typeface="Arial"/>
            </a:endParaRPr>
          </a:p>
          <a:p>
            <a:r>
              <a:rPr sz="2200" dirty="0">
                <a:solidFill>
                  <a:srgbClr val="1E293B"/>
                </a:solidFill>
                <a:latin typeface="Arial"/>
              </a:rPr>
              <a:t>• Distributed data sharing stalls on assumed compatibility—unproven guesses that endpoints share implicit schemas and APIs.</a:t>
            </a:r>
          </a:p>
          <a:p>
            <a:r>
              <a:rPr sz="2200" dirty="0">
                <a:solidFill>
                  <a:srgbClr val="1E293B"/>
                </a:solidFill>
                <a:latin typeface="Arial"/>
              </a:rPr>
              <a:t>• Discovery remains trapped in HTML pages; autonomous agents cannot navigate without machine signposts.</a:t>
            </a:r>
          </a:p>
          <a:p>
            <a:r>
              <a:rPr sz="2200" dirty="0">
                <a:solidFill>
                  <a:srgbClr val="1E293B"/>
                </a:solidFill>
                <a:latin typeface="Arial"/>
              </a:rPr>
              <a:t>• Data stewards spend up to 80% of their time on manual data cleaning and schema translation.</a:t>
            </a:r>
          </a:p>
        </p:txBody>
      </p:sp>
      <p:sp>
        <p:nvSpPr>
          <p:cNvPr id="13" name="Card1_RQ_Subcard"/>
          <p:cNvSpPr/>
          <p:nvPr/>
        </p:nvSpPr>
        <p:spPr>
          <a:xfrm>
            <a:off x="1874711" y="10881360"/>
            <a:ext cx="12527088" cy="2651760"/>
          </a:xfrm>
          <a:prstGeom prst="roundRect">
            <a:avLst/>
          </a:prstGeom>
          <a:solidFill>
            <a:srgbClr val="E6F7F8"/>
          </a:solidFill>
          <a:ln w="19050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3057A5"/>
                </a:solidFill>
                <a:latin typeface="Arial"/>
              </a:rPr>
              <a:t>Research Question (RQ)
</a:t>
            </a:r>
            <a:r>
              <a:rPr sz="2200" i="1" dirty="0">
                <a:solidFill>
                  <a:srgbClr val="1E293B"/>
                </a:solidFill>
                <a:latin typeface="Arial"/>
              </a:rPr>
              <a:t>How can distributed data ecosystems achieve scalable interoperability without enforcing brittle custom APIs or burdensome consumer-side guesswork?</a:t>
            </a:r>
          </a:p>
        </p:txBody>
      </p:sp>
      <p:sp>
        <p:nvSpPr>
          <p:cNvPr id="14" name="Card1_Hypothesis_Subcard"/>
          <p:cNvSpPr/>
          <p:nvPr/>
        </p:nvSpPr>
        <p:spPr>
          <a:xfrm>
            <a:off x="1874711" y="13670280"/>
            <a:ext cx="12527089" cy="2651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3057A5"/>
                </a:solidFill>
                <a:latin typeface="Arial"/>
              </a:rPr>
              <a:t>Hypothesis &amp; Core Proposition
</a:t>
            </a:r>
            <a:r>
              <a:rPr sz="2200" i="1">
                <a:solidFill>
                  <a:srgbClr val="1E293B"/>
                </a:solidFill>
                <a:latin typeface="Arial"/>
              </a:rPr>
              <a:t>Shifting the architectural burden from consumer inference to producer declaration via RFC 9264 Linksets and explicit conformity profiles enables autonomous web-scale discovery.</a:t>
            </a:r>
          </a:p>
        </p:txBody>
      </p:sp>
      <p:sp>
        <p:nvSpPr>
          <p:cNvPr id="15" name="Card2_Metrics_Container"/>
          <p:cNvSpPr/>
          <p:nvPr/>
        </p:nvSpPr>
        <p:spPr>
          <a:xfrm>
            <a:off x="15503652" y="7246620"/>
            <a:ext cx="13309092" cy="9509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rd2_Title"/>
          <p:cNvSpPr txBox="1"/>
          <p:nvPr/>
        </p:nvSpPr>
        <p:spPr>
          <a:xfrm>
            <a:off x="18971895" y="7583180"/>
            <a:ext cx="68877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3057A5"/>
                </a:solidFill>
                <a:latin typeface="Arial"/>
              </a:rPr>
              <a:t>2. Paradigm Shifts &amp; Empirical Metrics</a:t>
            </a:r>
          </a:p>
        </p:txBody>
      </p:sp>
      <p:sp>
        <p:nvSpPr>
          <p:cNvPr id="17" name="Card2_Intro_Text"/>
          <p:cNvSpPr txBox="1"/>
          <p:nvPr/>
        </p:nvSpPr>
        <p:spPr>
          <a:xfrm>
            <a:off x="15686532" y="8138160"/>
            <a:ext cx="1294333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1E293B"/>
                </a:solidFill>
                <a:latin typeface="Arial"/>
              </a:rPr>
              <a:t>From Hope-Based Integration to Measurable ROI:</a:t>
            </a:r>
          </a:p>
        </p:txBody>
      </p:sp>
      <p:sp>
        <p:nvSpPr>
          <p:cNvPr id="18" name="Metric_Badge_1_Time Reclaimed"/>
          <p:cNvSpPr/>
          <p:nvPr/>
        </p:nvSpPr>
        <p:spPr>
          <a:xfrm>
            <a:off x="15896082" y="8686800"/>
            <a:ext cx="2830068" cy="2011680"/>
          </a:xfrm>
          <a:prstGeom prst="roundRect">
            <a:avLst/>
          </a:prstGeom>
          <a:solidFill>
            <a:srgbClr val="E6F7F8"/>
          </a:solidFill>
          <a:ln w="22860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3057A5"/>
                </a:solidFill>
                <a:latin typeface="Arial"/>
              </a:rPr>
              <a:t>80%
</a:t>
            </a:r>
            <a:r>
              <a:rPr sz="2200" b="1" dirty="0">
                <a:solidFill>
                  <a:srgbClr val="1E293B"/>
                </a:solidFill>
                <a:latin typeface="Arial"/>
              </a:rPr>
              <a:t>Time Reclaimed</a:t>
            </a:r>
          </a:p>
        </p:txBody>
      </p:sp>
      <p:sp>
        <p:nvSpPr>
          <p:cNvPr id="19" name="Metric_Badge_2_Core Patterns"/>
          <p:cNvSpPr/>
          <p:nvPr/>
        </p:nvSpPr>
        <p:spPr>
          <a:xfrm>
            <a:off x="19120866" y="8686800"/>
            <a:ext cx="2830068" cy="2011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31B7BC"/>
                </a:solidFill>
                <a:latin typeface="Arial"/>
              </a:rPr>
              <a:t>10
</a:t>
            </a:r>
            <a:r>
              <a:rPr sz="2200" b="1">
                <a:solidFill>
                  <a:srgbClr val="1E293B"/>
                </a:solidFill>
                <a:latin typeface="Arial"/>
              </a:rPr>
              <a:t>Core Patterns</a:t>
            </a:r>
          </a:p>
        </p:txBody>
      </p:sp>
      <p:sp>
        <p:nvSpPr>
          <p:cNvPr id="20" name="Metric_Badge_3_Bottlenecks"/>
          <p:cNvSpPr/>
          <p:nvPr/>
        </p:nvSpPr>
        <p:spPr>
          <a:xfrm>
            <a:off x="22345650" y="8686800"/>
            <a:ext cx="2830068" cy="2011680"/>
          </a:xfrm>
          <a:prstGeom prst="roundRect">
            <a:avLst/>
          </a:prstGeom>
          <a:solidFill>
            <a:srgbClr val="E6F7F8"/>
          </a:solidFill>
          <a:ln w="22860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3057A5"/>
                </a:solidFill>
                <a:latin typeface="Arial"/>
              </a:rPr>
              <a:t>0
</a:t>
            </a:r>
            <a:r>
              <a:rPr sz="2200" b="1" dirty="0">
                <a:solidFill>
                  <a:srgbClr val="1E293B"/>
                </a:solidFill>
                <a:latin typeface="Arial"/>
              </a:rPr>
              <a:t>Bottlenecks</a:t>
            </a:r>
          </a:p>
        </p:txBody>
      </p:sp>
      <p:sp>
        <p:nvSpPr>
          <p:cNvPr id="21" name="Metric_Badge_4_Boredom"/>
          <p:cNvSpPr/>
          <p:nvPr/>
        </p:nvSpPr>
        <p:spPr>
          <a:xfrm>
            <a:off x="25570434" y="8686800"/>
            <a:ext cx="2830068" cy="2011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>
                <a:solidFill>
                  <a:srgbClr val="31B7BC"/>
                </a:solidFill>
                <a:latin typeface="Arial"/>
              </a:rPr>
              <a:t>Max
</a:t>
            </a:r>
            <a:r>
              <a:rPr sz="2200" b="1">
                <a:solidFill>
                  <a:srgbClr val="1E293B"/>
                </a:solidFill>
                <a:latin typeface="Arial"/>
              </a:rPr>
              <a:t>Boredom</a:t>
            </a:r>
          </a:p>
        </p:txBody>
      </p:sp>
      <p:sp>
        <p:nvSpPr>
          <p:cNvPr id="22" name="Card2_ROI_Subcard"/>
          <p:cNvSpPr/>
          <p:nvPr/>
        </p:nvSpPr>
        <p:spPr>
          <a:xfrm>
            <a:off x="15896082" y="10881360"/>
            <a:ext cx="12504420" cy="2651760"/>
          </a:xfrm>
          <a:prstGeom prst="roundRect">
            <a:avLst/>
          </a:prstGeom>
          <a:solidFill>
            <a:srgbClr val="E6F7F8"/>
          </a:solidFill>
          <a:ln w="19050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3057A5"/>
                </a:solidFill>
                <a:latin typeface="Arial"/>
              </a:rPr>
              <a:t>Measurable ROI &amp; Collapsing Integration Costs
</a:t>
            </a:r>
            <a:r>
              <a:rPr sz="2200">
                <a:solidFill>
                  <a:srgbClr val="1E293B"/>
                </a:solidFill>
                <a:latin typeface="Arial"/>
              </a:rPr>
              <a:t>Replaces "hope-based integration" with quantifiable data metrics. Declaring conformance operates as a minimal local "transaction tax" to collapse global integration overhead.</a:t>
            </a:r>
          </a:p>
        </p:txBody>
      </p:sp>
      <p:sp>
        <p:nvSpPr>
          <p:cNvPr id="23" name="Card2_Discussion_Subcard"/>
          <p:cNvSpPr/>
          <p:nvPr/>
        </p:nvSpPr>
        <p:spPr>
          <a:xfrm>
            <a:off x="15896082" y="13670280"/>
            <a:ext cx="12504420" cy="2651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 dirty="0">
                <a:solidFill>
                  <a:srgbClr val="3057A5"/>
                </a:solidFill>
                <a:latin typeface="Arial"/>
              </a:rPr>
              <a:t>Discussion, Limitation &amp; Future Direction
</a:t>
            </a:r>
          </a:p>
          <a:p>
            <a:r>
              <a:rPr sz="2200" dirty="0">
                <a:solidFill>
                  <a:srgbClr val="1E293B"/>
                </a:solidFill>
                <a:latin typeface="Arial"/>
              </a:rPr>
              <a:t>• Supported Hypothesis: Typed </a:t>
            </a:r>
            <a:r>
              <a:rPr sz="2200" dirty="0" err="1">
                <a:solidFill>
                  <a:srgbClr val="1E293B"/>
                </a:solidFill>
                <a:latin typeface="Arial"/>
              </a:rPr>
              <a:t>linksets</a:t>
            </a:r>
            <a:r>
              <a:rPr sz="2200" dirty="0">
                <a:solidFill>
                  <a:srgbClr val="1E293B"/>
                </a:solidFill>
                <a:latin typeface="Arial"/>
              </a:rPr>
              <a:t> externalize graph navigation into standard HTTP headers.</a:t>
            </a:r>
          </a:p>
          <a:p>
            <a:r>
              <a:rPr sz="2200" dirty="0">
                <a:solidFill>
                  <a:srgbClr val="1E293B"/>
                </a:solidFill>
                <a:latin typeface="Arial"/>
              </a:rPr>
              <a:t>• 1 Study Limitation: Adoption velocity depends on community alignment across dataspaces.</a:t>
            </a:r>
          </a:p>
          <a:p>
            <a:r>
              <a:rPr sz="2200" dirty="0">
                <a:solidFill>
                  <a:srgbClr val="1E293B"/>
                </a:solidFill>
                <a:latin typeface="Arial"/>
              </a:rPr>
              <a:t>• Future Direction: Formalize 10 EOSC-if </a:t>
            </a:r>
            <a:r>
              <a:rPr sz="2200" dirty="0" err="1">
                <a:solidFill>
                  <a:srgbClr val="1E293B"/>
                </a:solidFill>
                <a:latin typeface="Arial"/>
              </a:rPr>
              <a:t>Linkset</a:t>
            </a:r>
            <a:r>
              <a:rPr sz="2200" dirty="0">
                <a:solidFill>
                  <a:srgbClr val="1E293B"/>
                </a:solidFill>
                <a:latin typeface="Arial"/>
              </a:rPr>
              <a:t> Usage Patterns in Q3 2026 with </a:t>
            </a:r>
            <a:r>
              <a:rPr sz="2200" dirty="0" err="1">
                <a:solidFill>
                  <a:srgbClr val="1E293B"/>
                </a:solidFill>
                <a:latin typeface="Arial"/>
              </a:rPr>
              <a:t>wrx</a:t>
            </a:r>
            <a:r>
              <a:rPr sz="2200" dirty="0">
                <a:solidFill>
                  <a:srgbClr val="1E293B"/>
                </a:solidFill>
                <a:latin typeface="Arial"/>
              </a:rPr>
              <a:t> tooling.</a:t>
            </a:r>
          </a:p>
        </p:txBody>
      </p:sp>
      <p:sp>
        <p:nvSpPr>
          <p:cNvPr id="24" name="Hero_Container"/>
          <p:cNvSpPr/>
          <p:nvPr/>
        </p:nvSpPr>
        <p:spPr>
          <a:xfrm>
            <a:off x="1463040" y="17190720"/>
            <a:ext cx="27349704" cy="1158240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Hero_Infographic_Picture" descr="hero_infographic_hd.png"/>
          <p:cNvPicPr>
            <a:picLocks noChangeAspect="1"/>
          </p:cNvPicPr>
          <p:nvPr/>
        </p:nvPicPr>
        <p:blipFill>
          <a:blip r:embed="rId3"/>
          <a:srcRect l="2991" t="22673" r="2818" b="12310"/>
          <a:stretch>
            <a:fillRect/>
          </a:stretch>
        </p:blipFill>
        <p:spPr>
          <a:xfrm>
            <a:off x="2907506" y="18099404"/>
            <a:ext cx="24460200" cy="8561071"/>
          </a:xfrm>
          <a:prstGeom prst="rect">
            <a:avLst/>
          </a:prstGeom>
        </p:spPr>
      </p:pic>
      <p:sp>
        <p:nvSpPr>
          <p:cNvPr id="27" name="Hero_Caption"/>
          <p:cNvSpPr txBox="1"/>
          <p:nvPr/>
        </p:nvSpPr>
        <p:spPr>
          <a:xfrm>
            <a:off x="1828800" y="27462479"/>
            <a:ext cx="2698394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3057A5"/>
                </a:solidFill>
                <a:latin typeface="Arial"/>
              </a:rPr>
              <a:t>Figure 1: Radical Transparency </a:t>
            </a:r>
            <a:r>
              <a:rPr sz="2200" dirty="0">
                <a:solidFill>
                  <a:srgbClr val="64748B"/>
                </a:solidFill>
                <a:latin typeface="Arial"/>
              </a:rPr>
              <a:t>shifts the architectural burden from consumer inference to producer declaration. Moving from fractured data silos and assumed compatibility (left), digital assets declare explicit conformity profiles via RFC 9264 </a:t>
            </a:r>
            <a:r>
              <a:rPr sz="2200" dirty="0" err="1">
                <a:solidFill>
                  <a:srgbClr val="64748B"/>
                </a:solidFill>
                <a:latin typeface="Arial"/>
              </a:rPr>
              <a:t>linksets</a:t>
            </a:r>
            <a:r>
              <a:rPr sz="2200" dirty="0">
                <a:solidFill>
                  <a:srgbClr val="64748B"/>
                </a:solidFill>
                <a:latin typeface="Arial"/>
              </a:rPr>
              <a:t> (center), enabling autonomous AI agents and FAIR dataspaces to navigate web resources like an interconnected transit network (right).</a:t>
            </a:r>
          </a:p>
        </p:txBody>
      </p:sp>
      <p:sp>
        <p:nvSpPr>
          <p:cNvPr id="28" name="Card3_Pillars_Container"/>
          <p:cNvSpPr/>
          <p:nvPr/>
        </p:nvSpPr>
        <p:spPr>
          <a:xfrm>
            <a:off x="1463040" y="29575125"/>
            <a:ext cx="13309092" cy="111156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Card3_Title"/>
          <p:cNvSpPr txBox="1"/>
          <p:nvPr/>
        </p:nvSpPr>
        <p:spPr>
          <a:xfrm>
            <a:off x="4828889" y="30331707"/>
            <a:ext cx="69249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3057A5"/>
                </a:solidFill>
                <a:latin typeface="Arial"/>
              </a:rPr>
              <a:t>3. The 4 Strategic Pillars (2025–2030)</a:t>
            </a:r>
          </a:p>
        </p:txBody>
      </p:sp>
      <p:sp>
        <p:nvSpPr>
          <p:cNvPr id="30" name="Card3_Intro"/>
          <p:cNvSpPr txBox="1"/>
          <p:nvPr/>
        </p:nvSpPr>
        <p:spPr>
          <a:xfrm>
            <a:off x="4808220" y="31014650"/>
            <a:ext cx="69249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>
                <a:solidFill>
                  <a:srgbClr val="1E293B"/>
                </a:solidFill>
                <a:latin typeface="Arial"/>
              </a:rPr>
              <a:t>Concrete Workplan for Scalable Interoperability:</a:t>
            </a:r>
          </a:p>
        </p:txBody>
      </p:sp>
      <p:sp>
        <p:nvSpPr>
          <p:cNvPr id="31" name="Pillar_1_Linksets"/>
          <p:cNvSpPr/>
          <p:nvPr/>
        </p:nvSpPr>
        <p:spPr>
          <a:xfrm>
            <a:off x="1645920" y="32240219"/>
            <a:ext cx="6334506" cy="2468880"/>
          </a:xfrm>
          <a:prstGeom prst="roundRect">
            <a:avLst/>
          </a:prstGeom>
          <a:solidFill>
            <a:srgbClr val="E6F7F8"/>
          </a:solidFill>
          <a:ln w="19050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1. Linkset Usage Patterns
</a:t>
            </a:r>
            <a:r>
              <a:rPr sz="2200">
                <a:solidFill>
                  <a:srgbClr val="1E293B"/>
                </a:solidFill>
                <a:latin typeface="Arial"/>
              </a:rPr>
              <a:t>10 documented patterns (RFC 9264/8288) solving Broken Chains &amp; Semantic Drift.</a:t>
            </a:r>
          </a:p>
        </p:txBody>
      </p:sp>
      <p:sp>
        <p:nvSpPr>
          <p:cNvPr id="32" name="Pillar_2_Alignment"/>
          <p:cNvSpPr/>
          <p:nvPr/>
        </p:nvSpPr>
        <p:spPr>
          <a:xfrm>
            <a:off x="8254746" y="32221169"/>
            <a:ext cx="6334506" cy="2468880"/>
          </a:xfrm>
          <a:prstGeom prst="roundRect">
            <a:avLst/>
          </a:prstGeom>
          <a:solidFill>
            <a:srgbClr val="E6F7F8"/>
          </a:solidFill>
          <a:ln w="19050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2. Cross-Org Alignment
</a:t>
            </a:r>
            <a:r>
              <a:rPr sz="2200">
                <a:solidFill>
                  <a:srgbClr val="1E293B"/>
                </a:solidFill>
                <a:latin typeface="Arial"/>
              </a:rPr>
              <a:t>Shared lightweight bootstrap uniting EOSC-if, CDIF, OGC, RO-Crate, and ODIS.</a:t>
            </a:r>
          </a:p>
        </p:txBody>
      </p:sp>
      <p:sp>
        <p:nvSpPr>
          <p:cNvPr id="33" name="Pillar_3_Toolchain"/>
          <p:cNvSpPr/>
          <p:nvPr/>
        </p:nvSpPr>
        <p:spPr>
          <a:xfrm>
            <a:off x="1645920" y="34937699"/>
            <a:ext cx="6334506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3. Practical Toolchain
</a:t>
            </a:r>
            <a:r>
              <a:rPr sz="2200">
                <a:solidFill>
                  <a:srgbClr val="1E293B"/>
                </a:solidFill>
                <a:latin typeface="Arial"/>
              </a:rPr>
              <a:t>Reference tools (wrx, stitch, rdf-webcomponents) for automated discovery.</a:t>
            </a:r>
          </a:p>
        </p:txBody>
      </p:sp>
      <p:sp>
        <p:nvSpPr>
          <p:cNvPr id="34" name="Pillar_4_Market"/>
          <p:cNvSpPr/>
          <p:nvPr/>
        </p:nvSpPr>
        <p:spPr>
          <a:xfrm>
            <a:off x="8254746" y="34937699"/>
            <a:ext cx="6334506" cy="2468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4. Open Profile Market
</a:t>
            </a:r>
            <a:r>
              <a:rPr sz="2200">
                <a:solidFill>
                  <a:srgbClr val="1E293B"/>
                </a:solidFill>
                <a:latin typeface="Arial"/>
              </a:rPr>
              <a:t>Federated, DNS-like open profile registers replacing centralized monopolies.</a:t>
            </a:r>
          </a:p>
        </p:txBody>
      </p:sp>
      <p:sp>
        <p:nvSpPr>
          <p:cNvPr id="35" name="Card3_Separation_Subcard"/>
          <p:cNvSpPr/>
          <p:nvPr/>
        </p:nvSpPr>
        <p:spPr>
          <a:xfrm>
            <a:off x="1645920" y="37715189"/>
            <a:ext cx="12943332" cy="1325880"/>
          </a:xfrm>
          <a:prstGeom prst="roundRect">
            <a:avLst/>
          </a:prstGeom>
          <a:solidFill>
            <a:srgbClr val="E6F7F8"/>
          </a:solidFill>
          <a:ln w="1905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Core Separation of Concerns: </a:t>
            </a:r>
            <a:r>
              <a:rPr sz="2200">
                <a:solidFill>
                  <a:srgbClr val="1E293B"/>
                </a:solidFill>
                <a:latin typeface="Arial"/>
              </a:rPr>
              <a:t>Servers provide machine-actionable typed links; clients and autonomous agents handle contextualization, customization, and user interaction.</a:t>
            </a:r>
          </a:p>
        </p:txBody>
      </p:sp>
      <p:sp>
        <p:nvSpPr>
          <p:cNvPr id="36" name="Card4_Navigation_Container"/>
          <p:cNvSpPr/>
          <p:nvPr/>
        </p:nvSpPr>
        <p:spPr>
          <a:xfrm>
            <a:off x="15503652" y="29575125"/>
            <a:ext cx="13309092" cy="11115673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Card4_Title"/>
          <p:cNvSpPr txBox="1"/>
          <p:nvPr/>
        </p:nvSpPr>
        <p:spPr>
          <a:xfrm>
            <a:off x="18795492" y="30325695"/>
            <a:ext cx="63802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3057A5"/>
                </a:solidFill>
                <a:latin typeface="Arial"/>
              </a:rPr>
              <a:t>4. Web Navigation &amp; Digital Access</a:t>
            </a:r>
          </a:p>
        </p:txBody>
      </p:sp>
      <p:sp>
        <p:nvSpPr>
          <p:cNvPr id="38" name="Card4_Tube_Analogy_Subcard"/>
          <p:cNvSpPr/>
          <p:nvPr/>
        </p:nvSpPr>
        <p:spPr>
          <a:xfrm>
            <a:off x="15686532" y="32240219"/>
            <a:ext cx="12943332" cy="2487930"/>
          </a:xfrm>
          <a:prstGeom prst="roundRect">
            <a:avLst/>
          </a:prstGeom>
          <a:solidFill>
            <a:srgbClr val="E6F7F8"/>
          </a:solidFill>
          <a:ln w="19050">
            <a:solidFill>
              <a:srgbClr val="91C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3057A5"/>
                </a:solidFill>
                <a:latin typeface="Arial"/>
              </a:rPr>
              <a:t>The London Tube Navigation Analogy
</a:t>
            </a:r>
            <a:r>
              <a:rPr sz="2200">
                <a:solidFill>
                  <a:srgbClr val="1E293B"/>
                </a:solidFill>
                <a:latin typeface="Arial"/>
              </a:rPr>
              <a:t>At any web resource, local linksets map out the direct neighborhood. Typed link relations act as map symbology and color legends, telling autonomous agents exactly where to go next.</a:t>
            </a:r>
          </a:p>
        </p:txBody>
      </p:sp>
      <p:sp>
        <p:nvSpPr>
          <p:cNvPr id="39" name="Card4_QR1_Paper_Card"/>
          <p:cNvSpPr/>
          <p:nvPr/>
        </p:nvSpPr>
        <p:spPr>
          <a:xfrm>
            <a:off x="15686532" y="34907218"/>
            <a:ext cx="6334506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057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3057A5"/>
                </a:solidFill>
                <a:latin typeface="Arial"/>
              </a:rPr>
              <a:t>Paper PDF (QR Code)</a:t>
            </a:r>
          </a:p>
        </p:txBody>
      </p:sp>
      <p:pic>
        <p:nvPicPr>
          <p:cNvPr id="40" name="QR_Code_1_Paper" descr="qr_radical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19345" y="35234880"/>
            <a:ext cx="2468880" cy="2468880"/>
          </a:xfrm>
          <a:prstGeom prst="rect">
            <a:avLst/>
          </a:prstGeom>
        </p:spPr>
      </p:pic>
      <p:sp>
        <p:nvSpPr>
          <p:cNvPr id="41" name="Card4_QR1_Paper_Label"/>
          <p:cNvSpPr txBox="1"/>
          <p:nvPr/>
        </p:nvSpPr>
        <p:spPr>
          <a:xfrm>
            <a:off x="15686532" y="37840919"/>
            <a:ext cx="633450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Arial"/>
              </a:rPr>
              <a:t>open-science.vliz.be</a:t>
            </a:r>
          </a:p>
        </p:txBody>
      </p:sp>
      <p:sp>
        <p:nvSpPr>
          <p:cNvPr id="42" name="Card4_QR2_Patterns_Card"/>
          <p:cNvSpPr/>
          <p:nvPr/>
        </p:nvSpPr>
        <p:spPr>
          <a:xfrm>
            <a:off x="22210110" y="34891978"/>
            <a:ext cx="6334506" cy="3931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1B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3057A5"/>
                </a:solidFill>
                <a:latin typeface="Arial"/>
              </a:rPr>
              <a:t>Patterns (QR Code)</a:t>
            </a:r>
          </a:p>
        </p:txBody>
      </p:sp>
      <p:pic>
        <p:nvPicPr>
          <p:cNvPr id="43" name="QR_Code_2_Patterns" descr="qr_linkset_patter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28171" y="35280599"/>
            <a:ext cx="2468880" cy="2468880"/>
          </a:xfrm>
          <a:prstGeom prst="rect">
            <a:avLst/>
          </a:prstGeom>
        </p:spPr>
      </p:pic>
      <p:sp>
        <p:nvSpPr>
          <p:cNvPr id="44" name="Card4_QR2_Patterns_Label"/>
          <p:cNvSpPr txBox="1"/>
          <p:nvPr/>
        </p:nvSpPr>
        <p:spPr>
          <a:xfrm>
            <a:off x="22295358" y="37840919"/>
            <a:ext cx="6334506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E293B"/>
                </a:solidFill>
                <a:latin typeface="Arial"/>
              </a:rPr>
              <a:t>EOSC-if Proposals</a:t>
            </a:r>
          </a:p>
        </p:txBody>
      </p:sp>
      <p:sp>
        <p:nvSpPr>
          <p:cNvPr id="45" name="Card4_Repo_Subcard"/>
          <p:cNvSpPr/>
          <p:nvPr/>
        </p:nvSpPr>
        <p:spPr>
          <a:xfrm>
            <a:off x="16040100" y="39269669"/>
            <a:ext cx="12192000" cy="685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3057A5"/>
                </a:solidFill>
                <a:latin typeface="Arial"/>
              </a:rPr>
              <a:t>Open Solution Proposals: </a:t>
            </a:r>
            <a:r>
              <a:rPr sz="2200">
                <a:solidFill>
                  <a:srgbClr val="1E293B"/>
                </a:solidFill>
                <a:latin typeface="Arial"/>
              </a:rPr>
              <a:t>github.com/eosc-semantic-interop/if-solutions-proposals</a:t>
            </a:r>
          </a:p>
        </p:txBody>
      </p:sp>
      <p:sp>
        <p:nvSpPr>
          <p:cNvPr id="46" name="Footer_Container"/>
          <p:cNvSpPr/>
          <p:nvPr/>
        </p:nvSpPr>
        <p:spPr>
          <a:xfrm>
            <a:off x="1463040" y="40919400"/>
            <a:ext cx="27349704" cy="1280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 dirty="0">
                <a:solidFill>
                  <a:srgbClr val="3057A5"/>
                </a:solidFill>
                <a:latin typeface="Arial"/>
              </a:rPr>
              <a:t>References: </a:t>
            </a:r>
            <a:r>
              <a:rPr sz="2200" dirty="0">
                <a:solidFill>
                  <a:srgbClr val="1E293B"/>
                </a:solidFill>
                <a:latin typeface="Arial"/>
              </a:rPr>
              <a:t>[1] Wilde &amp; Van de </a:t>
            </a:r>
            <a:r>
              <a:rPr sz="2200" dirty="0" err="1">
                <a:solidFill>
                  <a:srgbClr val="1E293B"/>
                </a:solidFill>
                <a:latin typeface="Arial"/>
              </a:rPr>
              <a:t>Sompel</a:t>
            </a:r>
            <a:r>
              <a:rPr sz="2200" dirty="0">
                <a:solidFill>
                  <a:srgbClr val="1E293B"/>
                </a:solidFill>
                <a:latin typeface="Arial"/>
              </a:rPr>
              <a:t> (2022). </a:t>
            </a:r>
            <a:r>
              <a:rPr sz="2200" dirty="0" err="1">
                <a:solidFill>
                  <a:srgbClr val="1E293B"/>
                </a:solidFill>
                <a:latin typeface="Arial"/>
              </a:rPr>
              <a:t>Linkset</a:t>
            </a:r>
            <a:r>
              <a:rPr sz="2200" dirty="0">
                <a:solidFill>
                  <a:srgbClr val="1E293B"/>
                </a:solidFill>
                <a:latin typeface="Arial"/>
              </a:rPr>
              <a:t>: RFC 9264.   [2] Nottingham (2017). Web Linking: RFC 8288.   [3] Simonis et al. (2026). OGC 26-021.   [4] Portier et al. (2026). Radical Transparency.
</a:t>
            </a:r>
          </a:p>
          <a:p>
            <a:r>
              <a:rPr lang="en-US" sz="2200" b="1" dirty="0">
                <a:solidFill>
                  <a:srgbClr val="3057A5"/>
                </a:solidFill>
                <a:latin typeface="Arial"/>
              </a:rPr>
              <a:t>          </a:t>
            </a:r>
            <a:r>
              <a:rPr sz="2200" b="1" dirty="0">
                <a:solidFill>
                  <a:srgbClr val="3057A5"/>
                </a:solidFill>
                <a:latin typeface="Arial"/>
              </a:rPr>
              <a:t>AI Disclosure: </a:t>
            </a:r>
            <a:r>
              <a:rPr sz="2200" dirty="0">
                <a:solidFill>
                  <a:srgbClr val="1E293B"/>
                </a:solidFill>
                <a:latin typeface="Arial"/>
              </a:rPr>
              <a:t>Conceptual synthesis assisted by Agentic AI; system vision and </a:t>
            </a:r>
            <a:r>
              <a:rPr sz="2200" dirty="0" err="1">
                <a:solidFill>
                  <a:srgbClr val="1E293B"/>
                </a:solidFill>
                <a:latin typeface="Arial"/>
              </a:rPr>
              <a:t>Linkset</a:t>
            </a:r>
            <a:r>
              <a:rPr sz="2200" dirty="0">
                <a:solidFill>
                  <a:srgbClr val="1E293B"/>
                </a:solidFill>
                <a:latin typeface="Arial"/>
              </a:rPr>
              <a:t> patterns by authors.   |   VLIZ Open Science Team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646</Words>
  <Application>Microsoft Office PowerPoint</Application>
  <PresentationFormat>Custom</PresentationFormat>
  <Paragraphs>41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Cedric Decruw</cp:lastModifiedBy>
  <cp:revision>3</cp:revision>
  <dcterms:created xsi:type="dcterms:W3CDTF">2013-01-27T09:14:16Z</dcterms:created>
  <dcterms:modified xsi:type="dcterms:W3CDTF">2026-10-28T10:26:06Z</dcterms:modified>
  <cp:category/>
</cp:coreProperties>
</file>