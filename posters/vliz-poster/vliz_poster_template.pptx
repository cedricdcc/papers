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428030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784" cy="42803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275784" cy="5029200"/>
          </a:xfrm>
          <a:prstGeom prst="rect">
            <a:avLst/>
          </a:prstGeom>
          <a:solidFill>
            <a:srgbClr val="91C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liz_logo_vector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51560"/>
            <a:ext cx="1081471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692104" y="196596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3057A5"/>
                </a:solidFill>
                <a:latin typeface="Arial"/>
              </a:defRPr>
            </a:pPr>
            <a:r>
              <a:t>vliz.be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486400"/>
            <a:ext cx="262524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1B7BC"/>
                </a:solidFill>
                <a:latin typeface="Arial"/>
              </a:defRPr>
            </a:pPr>
            <a:r>
              <a:t>SUBTITLE / RESEARCH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6217920"/>
            <a:ext cx="2625242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400" b="1">
                <a:solidFill>
                  <a:srgbClr val="3057A5"/>
                </a:solidFill>
                <a:latin typeface="Arial"/>
              </a:defRPr>
            </a:pPr>
            <a:r>
              <a:t>Title poster here Lorem ipsum dolor sit amet, consectetur veniam.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9144000"/>
            <a:ext cx="262524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1F20"/>
                </a:solidFill>
                <a:latin typeface="Arial"/>
              </a:defRPr>
            </a:pPr>
            <a:r>
              <a:t>Jan Peeters, Peter Jansens, Anne De Smet</a:t>
            </a:r>
          </a:p>
          <a:p>
            <a:pPr>
              <a:spcBef>
                <a:spcPts val="600"/>
              </a:spcBef>
              <a:defRPr sz="1800">
                <a:solidFill>
                  <a:srgbClr val="64748B"/>
                </a:solidFill>
                <a:latin typeface="Arial"/>
              </a:defRPr>
            </a:pPr>
            <a:r>
              <a:t>Flanders Marine Institute (VLIZ), InnovOcean Campus, Jacobsenstraat 1, 8400 Oostende, Belgium  |  Contact: info@vliz.be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10972800"/>
            <a:ext cx="26983944" cy="685800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31B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1338560"/>
            <a:ext cx="2606954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057A5"/>
                </a:solidFill>
                <a:latin typeface="Arial"/>
              </a:defRPr>
            </a:pPr>
            <a:r>
              <a:t>CENTRAL HIGHLIGHT &amp; KEY FINDING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2161520"/>
            <a:ext cx="15087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Key Scientific Takeaway: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• Long-term acoustic telemetry and benthic monitoring reveal significant spatial redistribution of pelagic species in the Belgian Part of the North Sea (BPNS).</a:t>
            </a:r>
          </a:p>
          <a:p>
            <a:pPr>
              <a:defRPr sz="2000">
                <a:solidFill>
                  <a:srgbClr val="1E293B"/>
                </a:solidFill>
                <a:latin typeface="Arial"/>
              </a:defRPr>
            </a:pPr>
            <a:r>
              <a:t>• Environmental Drivers: Salinity gradients and sediment grain-size variance explain 68% of community turnover (p &lt; 0.001), establishing a baseline for marine conservation.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931384" y="11795760"/>
            <a:ext cx="10241280" cy="5577840"/>
          </a:xfrm>
          <a:prstGeom prst="rect">
            <a:avLst/>
          </a:prstGeom>
          <a:solidFill>
            <a:srgbClr val="E2E8F0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64748B"/>
                </a:solidFill>
                <a:latin typeface="Arial"/>
              </a:defRPr>
            </a:pPr>
            <a:r>
              <a:t>[ Central Figure / Study Area Map ]</a:t>
            </a:r>
            <a:br/>
            <a:br/>
            <a:r>
              <a:t>Insert high-resolution focal visual</a:t>
            </a:r>
            <a:br/>
            <a:r>
              <a:t>(DPI &gt;= 300 recommended)</a:t>
            </a:r>
            <a:br/>
            <a:r>
              <a:t>e.g. North Sea Sampling Map or Heatmap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18470880"/>
            <a:ext cx="8506968" cy="10972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 bIns="320040"/>
          <a:lstStyle/>
          <a:p>
            <a:pPr algn="ctr">
              <a:spcAft>
                <a:spcPts val="1000"/>
              </a:spcAft>
              <a:defRPr sz="2200" b="1">
                <a:solidFill>
                  <a:srgbClr val="3057A5"/>
                </a:solidFill>
                <a:latin typeface="Arial"/>
              </a:defRPr>
            </a:pPr>
            <a:r>
              <a:t>1. INTRODUCTION &amp; BACKGROUND</a:t>
            </a:r>
          </a:p>
          <a:p>
            <a:pPr>
              <a:spcAft>
                <a:spcPts val="800"/>
              </a:spcAft>
              <a:defRPr sz="1900" b="0">
                <a:solidFill>
                  <a:srgbClr val="1E293B"/>
                </a:solidFill>
                <a:latin typeface="Arial"/>
              </a:defRPr>
            </a:pPr>
            <a:r>
              <a:t>Marine ecosystems face compounding anthropogenic and climate pressures in shallow coastal waters.</a:t>
            </a:r>
          </a:p>
          <a:p>
            <a:pPr>
              <a:spcAft>
                <a:spcPts val="400"/>
              </a:spcAft>
              <a:defRPr sz="1900" b="1">
                <a:solidFill>
                  <a:srgbClr val="1E293B"/>
                </a:solidFill>
                <a:latin typeface="Arial"/>
              </a:defRPr>
            </a:pPr>
            <a:r>
              <a:t>Research Motivation: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Assess coastal biodiversity trends using multi-sensor mooring stations.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Evaluate ecosystem resilience across marine protected areas (MPAs).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Provide open data infrastructure via the European Marine Observation Network (EMODnet).</a:t>
            </a:r>
          </a:p>
          <a:p>
            <a:pPr>
              <a:spcAft>
                <a:spcPts val="400"/>
              </a:spcAft>
              <a:defRPr sz="1900" b="1">
                <a:solidFill>
                  <a:srgbClr val="1E293B"/>
                </a:solidFill>
                <a:latin typeface="Arial"/>
              </a:defRPr>
            </a:pPr>
            <a:r>
              <a:t>Key Objectives: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1. Characterize benthic-pelagic coupling dynamics over a 5-year observation window.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2. Benchmark automated acoustic species classification algorithms.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29900880"/>
            <a:ext cx="8506968" cy="114391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 bIns="320040"/>
          <a:lstStyle/>
          <a:p>
            <a:pPr algn="ctr">
              <a:spcAft>
                <a:spcPts val="1000"/>
              </a:spcAft>
              <a:defRPr sz="2200" b="1">
                <a:solidFill>
                  <a:srgbClr val="3057A5"/>
                </a:solidFill>
                <a:latin typeface="Arial"/>
              </a:defRPr>
            </a:pPr>
            <a:r>
              <a:t>2. STUDY SITE &amp; SAMPLING</a:t>
            </a:r>
          </a:p>
          <a:p>
            <a:pPr>
              <a:spcAft>
                <a:spcPts val="400"/>
              </a:spcAft>
              <a:defRPr sz="1900" b="1">
                <a:solidFill>
                  <a:srgbClr val="1E293B"/>
                </a:solidFill>
                <a:latin typeface="Arial"/>
              </a:defRPr>
            </a:pPr>
            <a:r>
              <a:t>Geographic Scope: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Field research conducted across 12 permanent stations in the Southern Bight of the North Sea.</a:t>
            </a:r>
          </a:p>
          <a:p>
            <a:pPr>
              <a:spcAft>
                <a:spcPts val="400"/>
              </a:spcAft>
              <a:defRPr sz="1900" b="1">
                <a:solidFill>
                  <a:srgbClr val="1E293B"/>
                </a:solidFill>
                <a:latin typeface="Arial"/>
              </a:defRPr>
            </a:pPr>
            <a:r>
              <a:t>Sensor Deployment: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Continuous CTD, turbidity, and fluorometry recordings.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Acoustic telemetry receiver grids tracking tagged migratory fauna.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84408" y="18470880"/>
            <a:ext cx="8506968" cy="1188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 bIns="320040"/>
          <a:lstStyle/>
          <a:p>
            <a:pPr algn="ctr">
              <a:spcAft>
                <a:spcPts val="1000"/>
              </a:spcAft>
              <a:defRPr sz="2200" b="1">
                <a:solidFill>
                  <a:srgbClr val="3057A5"/>
                </a:solidFill>
                <a:latin typeface="Arial"/>
              </a:defRPr>
            </a:pPr>
            <a:r>
              <a:t>3. METHODOLOGY &amp; INSTRUMENTATION</a:t>
            </a:r>
          </a:p>
          <a:p>
            <a:pPr>
              <a:spcAft>
                <a:spcPts val="600"/>
              </a:spcAft>
              <a:defRPr sz="1900" b="1">
                <a:solidFill>
                  <a:srgbClr val="1E293B"/>
                </a:solidFill>
                <a:latin typeface="Arial"/>
              </a:defRPr>
            </a:pPr>
            <a:r>
              <a:t>Integrated Marine Monitoring Pipeline:</a:t>
            </a:r>
          </a:p>
          <a:p>
            <a:pPr>
              <a:spcAft>
                <a:spcPts val="600"/>
              </a:spcAft>
              <a:defRPr sz="1900" b="1">
                <a:solidFill>
                  <a:srgbClr val="1E293B"/>
                </a:solidFill>
                <a:latin typeface="Arial"/>
              </a:defRPr>
            </a:pPr>
            <a:r>
              <a:t>• Hydrodynamic &amp; Biogeochemical Profiling: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RV Simon Stevin cruises sampled water column properties quarterly (2021-2025).</a:t>
            </a:r>
          </a:p>
          <a:p>
            <a:pPr>
              <a:spcAft>
                <a:spcPts val="600"/>
              </a:spcAft>
              <a:defRPr sz="1900" b="1">
                <a:solidFill>
                  <a:srgbClr val="1E293B"/>
                </a:solidFill>
                <a:latin typeface="Arial"/>
              </a:defRPr>
            </a:pPr>
            <a:r>
              <a:t>• High-Throughput Environmental DNA (eDNA):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12S &amp; COI metabarcoding identified 142 distinct marine taxa with 99.4% confidence.</a:t>
            </a:r>
          </a:p>
          <a:p>
            <a:pPr>
              <a:spcAft>
                <a:spcPts val="600"/>
              </a:spcAft>
              <a:defRPr sz="1900" b="1">
                <a:solidFill>
                  <a:srgbClr val="1E293B"/>
                </a:solidFill>
                <a:latin typeface="Arial"/>
              </a:defRPr>
            </a:pPr>
            <a:r>
              <a:t>• Spatial Machine Learning: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Gradient boosted trees mapped spatial vulnerability indices across dredge-disposal sites.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84408" y="30815280"/>
            <a:ext cx="8506968" cy="105247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 bIns="320040"/>
          <a:lstStyle/>
          <a:p>
            <a:pPr algn="ctr">
              <a:spcAft>
                <a:spcPts val="1000"/>
              </a:spcAft>
              <a:defRPr sz="2200" b="1">
                <a:solidFill>
                  <a:srgbClr val="3057A5"/>
                </a:solidFill>
                <a:latin typeface="Arial"/>
              </a:defRPr>
            </a:pPr>
            <a:r>
              <a:t>4. DATA QUALITY &amp; STANDARDS</a:t>
            </a:r>
          </a:p>
          <a:p>
            <a:pPr>
              <a:spcAft>
                <a:spcPts val="400"/>
              </a:spcAft>
              <a:defRPr sz="1900" b="1">
                <a:solidFill>
                  <a:srgbClr val="1E293B"/>
                </a:solidFill>
                <a:latin typeface="Arial"/>
              </a:defRPr>
            </a:pPr>
            <a:r>
              <a:t>FAIR Marine Data Principles: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All raw acoustic telemetry and biodiversity occurrence records are deposited in EurOBIS and Marine Data Archive (MDA).</a:t>
            </a:r>
          </a:p>
          <a:p>
            <a:pPr>
              <a:spcAft>
                <a:spcPts val="600"/>
              </a:spcAft>
              <a:defRPr sz="1700" b="0">
                <a:solidFill>
                  <a:srgbClr val="64748B"/>
                </a:solidFill>
                <a:latin typeface="Arial"/>
              </a:defRPr>
            </a:pPr>
            <a:r>
              <a:t>Standardized via Darwin Core Archive (DwC-A) standards.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22896" y="18470880"/>
            <a:ext cx="8506968" cy="10515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 bIns="320040"/>
          <a:lstStyle/>
          <a:p>
            <a:pPr algn="ctr">
              <a:spcAft>
                <a:spcPts val="1000"/>
              </a:spcAft>
              <a:defRPr sz="2200" b="1">
                <a:solidFill>
                  <a:srgbClr val="3057A5"/>
                </a:solidFill>
                <a:latin typeface="Arial"/>
              </a:defRPr>
            </a:pPr>
            <a:r>
              <a:t>5. RESULTS &amp; DISCUSSION</a:t>
            </a:r>
          </a:p>
          <a:p>
            <a:pPr>
              <a:spcAft>
                <a:spcPts val="600"/>
              </a:spcAft>
              <a:defRPr sz="1900" b="1">
                <a:solidFill>
                  <a:srgbClr val="1E293B"/>
                </a:solidFill>
                <a:latin typeface="Arial"/>
              </a:defRPr>
            </a:pPr>
            <a:r>
              <a:t>Key Findings: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Taxa Richness Trends: 24% increase in demersal fish diversity adjacent to artificial reef foundations.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Temporal Stability: Seasonal biomass peak shifted earlier by 14 days over the last decade.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Anthropogenic Attenuation: MPA buffer zones mitigated seabed disturbance significantly.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22896" y="29443680"/>
            <a:ext cx="8506968" cy="118963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 bIns="320040"/>
          <a:lstStyle/>
          <a:p>
            <a:pPr algn="ctr">
              <a:spcAft>
                <a:spcPts val="1000"/>
              </a:spcAft>
              <a:defRPr sz="2200" b="1">
                <a:solidFill>
                  <a:srgbClr val="3057A5"/>
                </a:solidFill>
                <a:latin typeface="Arial"/>
              </a:defRPr>
            </a:pPr>
            <a:r>
              <a:t>6. CONCLUSIONS &amp; REFERENCES</a:t>
            </a:r>
          </a:p>
          <a:p>
            <a:pPr>
              <a:spcAft>
                <a:spcPts val="400"/>
              </a:spcAft>
              <a:defRPr sz="1900" b="1">
                <a:solidFill>
                  <a:srgbClr val="1E293B"/>
                </a:solidFill>
                <a:latin typeface="Arial"/>
              </a:defRPr>
            </a:pPr>
            <a:r>
              <a:t>Conclusions: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Synchronized multi-sensor observatories provide crucial evidence for ecosystem-based marine spatial planning.</a:t>
            </a:r>
          </a:p>
          <a:p>
            <a:pPr>
              <a:spcAft>
                <a:spcPts val="200"/>
              </a:spcAft>
              <a:defRPr sz="1700" b="1">
                <a:solidFill>
                  <a:srgbClr val="1E293B"/>
                </a:solidFill>
                <a:latin typeface="Arial"/>
              </a:defRPr>
            </a:pPr>
            <a:r>
              <a:t>Selected References:</a:t>
            </a:r>
          </a:p>
          <a:p>
            <a:pPr>
              <a:spcAft>
                <a:spcPts val="600"/>
              </a:spcAft>
              <a:defRPr sz="1500" b="0">
                <a:solidFill>
                  <a:srgbClr val="64748B"/>
                </a:solidFill>
                <a:latin typeface="Arial"/>
              </a:defRPr>
            </a:pPr>
            <a:r>
              <a:t>[1] Peeters et al. (2025). North Sea Observation Network. J. Mar. Sci.</a:t>
            </a:r>
          </a:p>
          <a:p>
            <a:pPr>
              <a:spcAft>
                <a:spcPts val="600"/>
              </a:spcAft>
              <a:defRPr sz="1500" b="0">
                <a:solidFill>
                  <a:srgbClr val="64748B"/>
                </a:solidFill>
                <a:latin typeface="Arial"/>
              </a:defRPr>
            </a:pPr>
            <a:r>
              <a:t>[2] Jansens &amp; De Smet (2024). Coastal Telemetry Baselines. Oceanol.</a:t>
            </a:r>
          </a:p>
          <a:p>
            <a:pPr>
              <a:spcAft>
                <a:spcPts val="6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Scan QR for Data &amp; Open Access Paper:</a:t>
            </a:r>
          </a:p>
          <a:p>
            <a:pPr>
              <a:spcAft>
                <a:spcPts val="600"/>
              </a:spcAft>
              <a:defRPr sz="1500" b="0">
                <a:solidFill>
                  <a:srgbClr val="64748B"/>
                </a:solidFill>
                <a:latin typeface="Arial"/>
              </a:defRPr>
            </a:pPr>
            <a:r>
              <a:t>https://www.vliz.be | Marine Data Archive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1797224"/>
            <a:ext cx="2625242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64748B"/>
                </a:solidFill>
                <a:latin typeface="Arial"/>
              </a:defRPr>
            </a:pPr>
            <a:r>
              <a:t>Flanders Marine Institute (VLIZ)  •  InnovOcean Campus, Oostende, Belgium  •  VLIZ Marine Science Day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