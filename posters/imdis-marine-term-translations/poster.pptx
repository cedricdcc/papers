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650" y="-68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0275784" cy="42803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275784" cy="4800600"/>
          </a:xfrm>
          <a:prstGeom prst="rect">
            <a:avLst/>
          </a:prstGeom>
          <a:solidFill>
            <a:srgbClr val="91C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vl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904" y="1028700"/>
            <a:ext cx="10138791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500080" y="19431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400" b="1">
                <a:solidFill>
                  <a:srgbClr val="3057A5"/>
                </a:solidFill>
                <a:latin typeface="Arial"/>
              </a:rPr>
              <a:t>vliz.be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0904" y="5074920"/>
            <a:ext cx="1993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31B7BC"/>
                </a:solidFill>
                <a:latin typeface="Arial"/>
              </a:rPr>
              <a:t>IMDIS 2026   |   mtt.vliz.be   |   FOR DOMAIN TRANSLATORS &amp; ONTOLOGY MAINTAINERS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0904" y="5715000"/>
            <a:ext cx="199339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3057A5"/>
                </a:solidFill>
                <a:latin typeface="Arial"/>
              </a:rPr>
              <a:t>Marine Term Translations (MTT): A Self-Hosted Platform for Multilingual Marine Terminology Interoperability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4" y="7882127"/>
            <a:ext cx="19933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231F20"/>
                </a:solidFill>
                <a:latin typeface="Arial"/>
              </a:rPr>
              <a:t>Cedric Decruw</a:t>
            </a:r>
          </a:p>
          <a:p>
            <a:pPr>
              <a:defRPr sz="1850">
                <a:solidFill>
                  <a:srgbClr val="64748B"/>
                </a:solidFill>
                <a:latin typeface="Arial"/>
              </a:defRPr>
            </a:pPr>
            <a:r>
              <a:rPr>
                <a:solidFill>
                  <a:srgbClr val="64748B"/>
                </a:solidFill>
                <a:latin typeface="Arial"/>
              </a:rPr>
              <a:t>Flanders Marine Institute (VLIZ), InnovOcean Campus, Ostend, Belgium   |   cedric.decruw@vliz.be   |   ORCID: 0000-0001-6387-5988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189184" y="5166360"/>
            <a:ext cx="6309360" cy="37947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25400">
            <a:solidFill>
              <a:srgbClr val="31B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3057A5"/>
                </a:solidFill>
                <a:latin typeface="Arial"/>
              </a:rPr>
              <a:t>[ IMDIS 2026 Logo ]</a:t>
            </a:r>
          </a:p>
          <a:p>
            <a:pPr algn="ctr">
              <a:defRPr sz="1800">
                <a:solidFill>
                  <a:srgbClr val="64748B"/>
                </a:solidFill>
                <a:latin typeface="Arial"/>
              </a:defRPr>
            </a:pPr>
            <a:r>
              <a:rPr>
                <a:solidFill>
                  <a:srgbClr val="64748B"/>
                </a:solidFill>
                <a:latin typeface="Arial"/>
              </a:rPr>
              <a:t>Reserved Conference Logo Space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9464040"/>
            <a:ext cx="14127480" cy="8686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5371064" y="9464040"/>
            <a:ext cx="14127480" cy="8686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9646920"/>
            <a:ext cx="13487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1" dirty="0">
                <a:solidFill>
                  <a:srgbClr val="3057A5"/>
                </a:solidFill>
                <a:latin typeface="Arial"/>
              </a:rPr>
              <a:t>1. Context, Research Question &amp; Hypothesis</a:t>
            </a:r>
          </a:p>
          <a:p>
            <a:pPr>
              <a:spcAft>
                <a:spcPts val="400"/>
              </a:spcAft>
            </a:pPr>
            <a:r>
              <a:rPr sz="2200" b="1" dirty="0">
                <a:solidFill>
                  <a:srgbClr val="1E293B"/>
                </a:solidFill>
                <a:latin typeface="Arial"/>
              </a:rPr>
              <a:t>Operational Gap in Marine Vocabularies:</a:t>
            </a:r>
          </a:p>
          <a:p>
            <a:pPr>
              <a:spcAft>
                <a:spcPts val="300"/>
              </a:spcAft>
              <a:defRPr sz="1900">
                <a:solidFill>
                  <a:srgbClr val="1E293B"/>
                </a:solidFill>
                <a:latin typeface="Arial"/>
              </a:defRPr>
            </a:pPr>
            <a:r>
              <a:rPr dirty="0">
                <a:solidFill>
                  <a:srgbClr val="1E293B"/>
                </a:solidFill>
                <a:latin typeface="Arial"/>
              </a:rPr>
              <a:t>• Marine infrastructures (</a:t>
            </a:r>
            <a:r>
              <a:rPr dirty="0" err="1">
                <a:solidFill>
                  <a:srgbClr val="1E293B"/>
                </a:solidFill>
                <a:latin typeface="Arial"/>
              </a:rPr>
              <a:t>SeaDataNet</a:t>
            </a:r>
            <a:r>
              <a:rPr dirty="0">
                <a:solidFill>
                  <a:srgbClr val="1E293B"/>
                </a:solidFill>
                <a:latin typeface="Arial"/>
              </a:rPr>
              <a:t>, </a:t>
            </a:r>
            <a:r>
              <a:rPr dirty="0" err="1">
                <a:solidFill>
                  <a:srgbClr val="1E293B"/>
                </a:solidFill>
                <a:latin typeface="Arial"/>
              </a:rPr>
              <a:t>EMODnet</a:t>
            </a:r>
            <a:r>
              <a:rPr dirty="0">
                <a:solidFill>
                  <a:srgbClr val="1E293B"/>
                </a:solidFill>
                <a:latin typeface="Arial"/>
              </a:rPr>
              <a:t>, BODC NVS) maintain authoritative terms in English, while translations rely on disconnected spreadsheets.</a:t>
            </a:r>
          </a:p>
          <a:p>
            <a:pPr>
              <a:spcAft>
                <a:spcPts val="300"/>
              </a:spcAft>
              <a:defRPr sz="1900">
                <a:solidFill>
                  <a:srgbClr val="1E293B"/>
                </a:solidFill>
                <a:latin typeface="Arial"/>
              </a:defRPr>
            </a:pPr>
            <a:r>
              <a:rPr dirty="0">
                <a:solidFill>
                  <a:srgbClr val="1E293B"/>
                </a:solidFill>
                <a:latin typeface="Arial"/>
              </a:rPr>
              <a:t>• Periodic full-snapshot downloads cause sync lag and URI drift.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12264390"/>
            <a:ext cx="13487400" cy="2240280"/>
          </a:xfrm>
          <a:prstGeom prst="roundRect">
            <a:avLst>
              <a:gd name="adj" fmla="val 6000"/>
            </a:avLst>
          </a:prstGeom>
          <a:solidFill>
            <a:srgbClr val="E6F7F8"/>
          </a:solidFill>
          <a:ln w="22225">
            <a:solidFill>
              <a:srgbClr val="91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Ins="228600" bIns="146304" rtlCol="0" anchor="ctr"/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3057A5"/>
                </a:solidFill>
                <a:latin typeface="Arial"/>
              </a:rPr>
              <a:t>Research Question (RQ)</a:t>
            </a:r>
          </a:p>
          <a:p>
            <a:pPr>
              <a:spcAft>
                <a:spcPts val="0"/>
              </a:spcAft>
              <a:defRPr sz="1850">
                <a:solidFill>
                  <a:srgbClr val="1E293B"/>
                </a:solidFill>
                <a:latin typeface="Arial"/>
              </a:defRPr>
            </a:pPr>
            <a:r>
              <a:rPr i="1">
                <a:solidFill>
                  <a:srgbClr val="1E293B"/>
                </a:solidFill>
                <a:latin typeface="Arial"/>
              </a:rPr>
              <a:t>How can institutions run a sovereign multilingual terminology workflow that engages domain experts and publishes machine-actionable updates?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15038070"/>
            <a:ext cx="13487400" cy="2240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Ins="228600" bIns="146304" rtlCol="0" anchor="ctr"/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3057A5"/>
                </a:solidFill>
                <a:latin typeface="Arial"/>
              </a:rPr>
              <a:t>Hypothesis &amp; Prediction</a:t>
            </a:r>
          </a:p>
          <a:p>
            <a:pPr>
              <a:spcAft>
                <a:spcPts val="0"/>
              </a:spcAft>
              <a:defRPr sz="1850">
                <a:solidFill>
                  <a:srgbClr val="1E293B"/>
                </a:solidFill>
                <a:latin typeface="Arial"/>
              </a:defRPr>
            </a:pPr>
            <a:r>
              <a:rPr i="1">
                <a:solidFill>
                  <a:srgbClr val="1E293B"/>
                </a:solidFill>
                <a:latin typeface="Arial"/>
              </a:rPr>
              <a:t>Decoupling persistent concept URIs from language labels in an ORCID-governed, LDES-enabled web platform eliminates sync lag without URI churn.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91104" y="9646920"/>
            <a:ext cx="1348740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1" dirty="0">
                <a:solidFill>
                  <a:srgbClr val="3057A5"/>
                </a:solidFill>
                <a:latin typeface="Arial"/>
              </a:rPr>
              <a:t>2. Empirical Evaluation (Beta</a:t>
            </a:r>
            <a:r>
              <a:rPr lang="en-US" sz="2600" b="1" dirty="0">
                <a:solidFill>
                  <a:srgbClr val="3057A5"/>
                </a:solidFill>
                <a:latin typeface="Arial"/>
              </a:rPr>
              <a:t> test</a:t>
            </a:r>
            <a:r>
              <a:rPr sz="2600" b="1" dirty="0">
                <a:solidFill>
                  <a:srgbClr val="3057A5"/>
                </a:solidFill>
                <a:latin typeface="Arial"/>
              </a:rPr>
              <a:t>)</a:t>
            </a:r>
          </a:p>
          <a:p>
            <a:r>
              <a:rPr sz="2200" b="1" dirty="0">
                <a:solidFill>
                  <a:srgbClr val="1E293B"/>
                </a:solidFill>
                <a:latin typeface="Arial"/>
              </a:rPr>
              <a:t>Observed Beta Performance Metrics: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691104" y="11247120"/>
            <a:ext cx="4312920" cy="1965960"/>
          </a:xfrm>
          <a:prstGeom prst="roundRect">
            <a:avLst>
              <a:gd name="adj" fmla="val 8000"/>
            </a:avLst>
          </a:prstGeom>
          <a:solidFill>
            <a:srgbClr val="E6F7F8"/>
          </a:solidFill>
          <a:ln w="25400">
            <a:solidFill>
              <a:srgbClr val="30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200" b="1" dirty="0">
                <a:solidFill>
                  <a:srgbClr val="3057A5"/>
                </a:solidFill>
                <a:latin typeface="Arial"/>
              </a:rPr>
              <a:t>2</a:t>
            </a:r>
            <a:r>
              <a:rPr lang="en-US" sz="3200" b="1" dirty="0">
                <a:solidFill>
                  <a:srgbClr val="3057A5"/>
                </a:solidFill>
                <a:latin typeface="Arial"/>
              </a:rPr>
              <a:t>8</a:t>
            </a:r>
            <a:r>
              <a:rPr sz="3200" b="1" dirty="0">
                <a:solidFill>
                  <a:srgbClr val="3057A5"/>
                </a:solidFill>
                <a:latin typeface="Arial"/>
              </a:rPr>
              <a:t>%</a:t>
            </a:r>
          </a:p>
          <a:p>
            <a:pPr algn="ctr">
              <a:defRPr sz="1850">
                <a:solidFill>
                  <a:srgbClr val="1E293B"/>
                </a:solidFill>
                <a:latin typeface="Arial"/>
              </a:defRPr>
            </a:pPr>
            <a:r>
              <a:rPr dirty="0">
                <a:solidFill>
                  <a:srgbClr val="1E293B"/>
                </a:solidFill>
                <a:latin typeface="Arial"/>
              </a:rPr>
              <a:t>P02 in NL &amp; FR</a:t>
            </a:r>
            <a:r>
              <a:rPr lang="en-US" dirty="0">
                <a:solidFill>
                  <a:srgbClr val="1E293B"/>
                </a:solidFill>
                <a:latin typeface="Arial"/>
              </a:rPr>
              <a:t> terms translated</a:t>
            </a:r>
            <a:endParaRPr dirty="0">
              <a:solidFill>
                <a:srgbClr val="1E293B"/>
              </a:solidFill>
              <a:latin typeface="Arial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0278344" y="11247120"/>
            <a:ext cx="4312920" cy="19659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25400">
            <a:solidFill>
              <a:srgbClr val="31B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31B7BC"/>
                </a:solidFill>
                <a:latin typeface="Arial"/>
              </a:rPr>
              <a:t>658 </a:t>
            </a:r>
            <a:endParaRPr sz="3200" b="1" dirty="0">
              <a:solidFill>
                <a:srgbClr val="31B7BC"/>
              </a:solidFill>
              <a:latin typeface="Arial"/>
            </a:endParaRPr>
          </a:p>
          <a:p>
            <a:pPr algn="ctr">
              <a:defRPr sz="1850">
                <a:solidFill>
                  <a:srgbClr val="1E293B"/>
                </a:solidFill>
                <a:latin typeface="Arial"/>
              </a:defRPr>
            </a:pPr>
            <a:r>
              <a:rPr lang="en-US" dirty="0">
                <a:solidFill>
                  <a:srgbClr val="1E293B"/>
                </a:solidFill>
                <a:latin typeface="Arial"/>
              </a:rPr>
              <a:t>Terms translated</a:t>
            </a:r>
            <a:endParaRPr dirty="0">
              <a:solidFill>
                <a:srgbClr val="1E293B"/>
              </a:solidFill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4865584" y="11247120"/>
            <a:ext cx="4312920" cy="1965960"/>
          </a:xfrm>
          <a:prstGeom prst="roundRect">
            <a:avLst>
              <a:gd name="adj" fmla="val 8000"/>
            </a:avLst>
          </a:prstGeom>
          <a:solidFill>
            <a:srgbClr val="E6F7F8"/>
          </a:solidFill>
          <a:ln w="25400">
            <a:solidFill>
              <a:srgbClr val="30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3057A5"/>
                </a:solidFill>
                <a:latin typeface="Arial"/>
              </a:rPr>
              <a:t>18</a:t>
            </a:r>
            <a:endParaRPr sz="3200" b="1" dirty="0">
              <a:solidFill>
                <a:srgbClr val="3057A5"/>
              </a:solidFill>
              <a:latin typeface="Arial"/>
            </a:endParaRPr>
          </a:p>
          <a:p>
            <a:pPr algn="ctr">
              <a:defRPr sz="1850">
                <a:solidFill>
                  <a:srgbClr val="1E293B"/>
                </a:solidFill>
                <a:latin typeface="Arial"/>
              </a:defRPr>
            </a:pPr>
            <a:r>
              <a:rPr lang="en-US" dirty="0">
                <a:solidFill>
                  <a:srgbClr val="1E293B"/>
                </a:solidFill>
                <a:latin typeface="Arial"/>
              </a:rPr>
              <a:t>Contributors</a:t>
            </a:r>
            <a:endParaRPr dirty="0">
              <a:solidFill>
                <a:srgbClr val="1E293B"/>
              </a:solidFill>
              <a:latin typeface="Arial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5691104" y="13441680"/>
            <a:ext cx="13487400" cy="43891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Ins="228600" bIns="146304" rtlCol="0" anchor="ctr"/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3057A5"/>
                </a:solidFill>
                <a:latin typeface="Arial"/>
              </a:rPr>
              <a:t>Discussion, Limitation &amp; Future Direction</a:t>
            </a:r>
          </a:p>
          <a:p>
            <a:pPr>
              <a:spcAft>
                <a:spcPts val="200"/>
              </a:spcAft>
              <a:defRPr sz="185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  <a:latin typeface="Arial"/>
              </a:rPr>
              <a:t>• Supported Hypothesis: </a:t>
            </a:r>
            <a:r>
              <a:rPr i="0">
                <a:solidFill>
                  <a:srgbClr val="1E293B"/>
                </a:solidFill>
                <a:latin typeface="Arial"/>
              </a:rPr>
              <a:t>End-to-end LDES stream sync proven on BODC P02 without URI churn.</a:t>
            </a:r>
          </a:p>
          <a:p>
            <a:pPr>
              <a:spcAft>
                <a:spcPts val="200"/>
              </a:spcAft>
              <a:defRPr sz="185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  <a:latin typeface="Arial"/>
              </a:rPr>
              <a:t>• 1 Study Limitation: </a:t>
            </a:r>
            <a:r>
              <a:rPr i="0">
                <a:solidFill>
                  <a:srgbClr val="1E293B"/>
                </a:solidFill>
                <a:latin typeface="Arial"/>
              </a:rPr>
              <a:t>Review velocity remains bounded by domain-expert reviewer bandwidth.</a:t>
            </a:r>
          </a:p>
          <a:p>
            <a:pPr>
              <a:spcAft>
                <a:spcPts val="0"/>
              </a:spcAft>
              <a:defRPr sz="185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  <a:latin typeface="Arial"/>
              </a:rPr>
              <a:t>• Actionable Future Direction: </a:t>
            </a:r>
            <a:r>
              <a:rPr i="0">
                <a:solidFill>
                  <a:srgbClr val="1E293B"/>
                </a:solidFill>
                <a:latin typeface="Arial"/>
              </a:rPr>
              <a:t>Deploy automated confidence triage to prioritize expert review queues.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18470880"/>
            <a:ext cx="28721304" cy="125272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5244" y="19126200"/>
            <a:ext cx="20765294" cy="102412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43000" y="29791152"/>
            <a:ext cx="2798978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50">
                <a:solidFill>
                  <a:srgbClr val="64748B"/>
                </a:solidFill>
                <a:latin typeface="Arial"/>
              </a:defRPr>
            </a:pPr>
            <a:r>
              <a:rPr b="1">
                <a:solidFill>
                  <a:srgbClr val="64748B"/>
                </a:solidFill>
                <a:latin typeface="Arial"/>
              </a:rPr>
              <a:t>Figure 1: </a:t>
            </a:r>
            <a:r>
              <a:rPr>
                <a:solidFill>
                  <a:srgbClr val="64748B"/>
                </a:solidFill>
                <a:latin typeface="Arial"/>
              </a:rPr>
              <a:t>MTT consumes upstream RDF LDES streams (e.g. BODC P02), supports human-curated translations with AI drafting and ORCID review, re-publishes enriched RDF LDES feeds, and powers vocab.vliz.be widgets where any multilingual label resolves to the same persistent Concept URI.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1318200"/>
            <a:ext cx="14127480" cy="8961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5371064" y="31318200"/>
            <a:ext cx="14127480" cy="8961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7280" y="31501080"/>
            <a:ext cx="13487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3057A5"/>
                </a:solidFill>
                <a:latin typeface="Arial"/>
              </a:rPr>
              <a:t>3. For Ontology Maintainers &amp; Domain Translators</a:t>
            </a:r>
          </a:p>
          <a:p>
            <a:r>
              <a:rPr sz="2200" b="1">
                <a:solidFill>
                  <a:srgbClr val="1E293B"/>
                </a:solidFill>
                <a:latin typeface="Arial"/>
              </a:rPr>
              <a:t>For Ontology / Vocabulary Owners &amp; Maintainers: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32826960"/>
            <a:ext cx="6606540" cy="2011680"/>
          </a:xfrm>
          <a:prstGeom prst="roundRect">
            <a:avLst>
              <a:gd name="adj" fmla="val 6000"/>
            </a:avLst>
          </a:prstGeom>
          <a:solidFill>
            <a:srgbClr val="E6F7F8"/>
          </a:solidFill>
          <a:ln w="22225">
            <a:solidFill>
              <a:srgbClr val="91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Ins="228600" bIns="146304" rtlCol="0" anchor="ctr"/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3057A5"/>
                </a:solidFill>
                <a:latin typeface="Arial"/>
              </a:rPr>
              <a:t>Sovereign Self-Host Stack</a:t>
            </a:r>
          </a:p>
          <a:p>
            <a:pPr>
              <a:spcAft>
                <a:spcPts val="0"/>
              </a:spcAft>
              <a:defRPr sz="1850">
                <a:solidFill>
                  <a:srgbClr val="1E293B"/>
                </a:solidFill>
                <a:latin typeface="Arial"/>
              </a:defRPr>
            </a:pPr>
            <a:r>
              <a:rPr i="0">
                <a:solidFill>
                  <a:srgbClr val="1E293B"/>
                </a:solidFill>
                <a:latin typeface="Arial"/>
              </a:rPr>
              <a:t>Open-source React, Node.js &amp; PostgreSQL (mtt-self-host-platform).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78140" y="32826960"/>
            <a:ext cx="6606540" cy="2011680"/>
          </a:xfrm>
          <a:prstGeom prst="roundRect">
            <a:avLst>
              <a:gd name="adj" fmla="val 6000"/>
            </a:avLst>
          </a:prstGeom>
          <a:solidFill>
            <a:srgbClr val="E6F7F8"/>
          </a:solidFill>
          <a:ln w="22225">
            <a:solidFill>
              <a:srgbClr val="91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Ins="228600" bIns="146304" rtlCol="0" anchor="ctr"/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3057A5"/>
                </a:solidFill>
                <a:latin typeface="Arial"/>
              </a:rPr>
              <a:t>LDES + SKOS / JSON-LD</a:t>
            </a:r>
          </a:p>
          <a:p>
            <a:pPr>
              <a:spcAft>
                <a:spcPts val="0"/>
              </a:spcAft>
              <a:defRPr sz="1850">
                <a:solidFill>
                  <a:srgbClr val="1E293B"/>
                </a:solidFill>
                <a:latin typeface="Arial"/>
              </a:defRPr>
            </a:pPr>
            <a:r>
              <a:rPr i="0">
                <a:solidFill>
                  <a:srgbClr val="1E293B"/>
                </a:solidFill>
                <a:latin typeface="Arial"/>
              </a:rPr>
              <a:t>Incremental RDF event streams plus deterministic CSV, SKOS &amp; JSON-LD.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34948368"/>
            <a:ext cx="1348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E293B"/>
                </a:solidFill>
                <a:latin typeface="Arial"/>
              </a:rPr>
              <a:t>For Domain Experts &amp; Term Translators: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35551872"/>
            <a:ext cx="6606540" cy="20116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Ins="228600" bIns="146304" rtlCol="0" anchor="ctr"/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3057A5"/>
                </a:solidFill>
                <a:latin typeface="Arial"/>
              </a:rPr>
              <a:t>Side-by-Side UI + AI</a:t>
            </a:r>
          </a:p>
          <a:p>
            <a:pPr>
              <a:spcAft>
                <a:spcPts val="0"/>
              </a:spcAft>
              <a:defRPr sz="1850">
                <a:solidFill>
                  <a:srgbClr val="1E293B"/>
                </a:solidFill>
                <a:latin typeface="Arial"/>
              </a:defRPr>
            </a:pPr>
            <a:r>
              <a:rPr i="0">
                <a:solidFill>
                  <a:srgbClr val="1E293B"/>
                </a:solidFill>
                <a:latin typeface="Arial"/>
              </a:rPr>
              <a:t>Distraction-free web comparison with contextual AI candidate suggestions.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78140" y="35551872"/>
            <a:ext cx="6606540" cy="20116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Ins="228600" bIns="146304" rtlCol="0" anchor="ctr"/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3057A5"/>
                </a:solidFill>
                <a:latin typeface="Arial"/>
              </a:rPr>
              <a:t>ORCID Review &amp; Credit</a:t>
            </a:r>
          </a:p>
          <a:p>
            <a:pPr>
              <a:spcAft>
                <a:spcPts val="0"/>
              </a:spcAft>
              <a:defRPr sz="1850">
                <a:solidFill>
                  <a:srgbClr val="1E293B"/>
                </a:solidFill>
                <a:latin typeface="Arial"/>
              </a:defRPr>
            </a:pPr>
            <a:r>
              <a:rPr i="0">
                <a:solidFill>
                  <a:srgbClr val="1E293B"/>
                </a:solidFill>
                <a:latin typeface="Arial"/>
              </a:rPr>
              <a:t>Human-in-the-loop approval gate binding every translation to ORCID.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37764720"/>
            <a:ext cx="13487400" cy="2240280"/>
          </a:xfrm>
          <a:prstGeom prst="roundRect">
            <a:avLst>
              <a:gd name="adj" fmla="val 6000"/>
            </a:avLst>
          </a:prstGeom>
          <a:solidFill>
            <a:srgbClr val="E6F7F8"/>
          </a:solidFill>
          <a:ln w="22225">
            <a:solidFill>
              <a:srgbClr val="31B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Ins="228600" bIns="146304" rtlCol="0" anchor="ctr"/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3057A5"/>
                </a:solidFill>
                <a:latin typeface="Arial"/>
              </a:rPr>
              <a:t>Governance &amp; Auditability</a:t>
            </a:r>
          </a:p>
          <a:p>
            <a:pPr>
              <a:spcAft>
                <a:spcPts val="0"/>
              </a:spcAft>
              <a:defRPr sz="1850">
                <a:solidFill>
                  <a:srgbClr val="1E293B"/>
                </a:solidFill>
                <a:latin typeface="Arial"/>
              </a:defRPr>
            </a:pPr>
            <a:r>
              <a:rPr i="0">
                <a:solidFill>
                  <a:srgbClr val="1E293B"/>
                </a:solidFill>
                <a:latin typeface="Arial"/>
              </a:rPr>
              <a:t>Role-aware transitions (Draft → Reviewed → Published) prevent unverified machine translations from leaking into production feeds.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691104" y="31501080"/>
            <a:ext cx="13487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3057A5"/>
                </a:solidFill>
                <a:latin typeface="Arial"/>
              </a:rPr>
              <a:t>4. Downstream Widget Reuse &amp; Digital Access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691104" y="32278319"/>
            <a:ext cx="13487400" cy="2240280"/>
          </a:xfrm>
          <a:prstGeom prst="roundRect">
            <a:avLst>
              <a:gd name="adj" fmla="val 6000"/>
            </a:avLst>
          </a:prstGeom>
          <a:solidFill>
            <a:srgbClr val="E6F7F8"/>
          </a:solidFill>
          <a:ln w="22225">
            <a:solidFill>
              <a:srgbClr val="91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Ins="228600" bIns="146304" rtlCol="0" anchor="ctr"/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3057A5"/>
                </a:solidFill>
                <a:latin typeface="Arial"/>
              </a:rPr>
              <a:t>Downstream Reuse in vocab.vliz.be Web Widgets</a:t>
            </a:r>
          </a:p>
          <a:p>
            <a:pPr>
              <a:spcAft>
                <a:spcPts val="0"/>
              </a:spcAft>
              <a:defRPr sz="1850">
                <a:solidFill>
                  <a:srgbClr val="1E293B"/>
                </a:solidFill>
                <a:latin typeface="Arial"/>
              </a:defRPr>
            </a:pPr>
            <a:r>
              <a:rPr i="0">
                <a:solidFill>
                  <a:srgbClr val="1E293B"/>
                </a:solidFill>
                <a:latin typeface="Arial"/>
              </a:rPr>
              <a:t>Consuming tools ingest MTT's outgoing LDES feed to render multilingual autocomplete widgets: users select labels in English, Dutch, or French while resolving to the exact same Concept URI.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5691104" y="34701480"/>
            <a:ext cx="6606540" cy="4114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22225">
            <a:solidFill>
              <a:srgbClr val="30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5828264" y="34792920"/>
            <a:ext cx="63322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3057A5"/>
                </a:solidFill>
                <a:latin typeface="Arial"/>
              </a:rPr>
              <a:t>Live Platform (QR Code)</a:t>
            </a:r>
          </a:p>
        </p:txBody>
      </p:sp>
      <p:pic>
        <p:nvPicPr>
          <p:cNvPr id="37" name="Picture 36" descr="qr_mtt_platfo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22774" y="35359848"/>
            <a:ext cx="2743200" cy="27432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5828264" y="38176200"/>
            <a:ext cx="63322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5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  <a:latin typeface="Arial"/>
              </a:rPr>
              <a:t>mtt.vliz.be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571964" y="34701480"/>
            <a:ext cx="6606540" cy="4114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22225">
            <a:solidFill>
              <a:srgbClr val="31B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2709124" y="34792920"/>
            <a:ext cx="63322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3057A5"/>
                </a:solidFill>
                <a:latin typeface="Arial"/>
              </a:rPr>
              <a:t>IMDIS 2026 Paper PDF</a:t>
            </a:r>
          </a:p>
        </p:txBody>
      </p:sp>
      <p:pic>
        <p:nvPicPr>
          <p:cNvPr id="41" name="Picture 40" descr="qr_imdis_pap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03634" y="35359848"/>
            <a:ext cx="2743200" cy="27432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2709124" y="38176200"/>
            <a:ext cx="63322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5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  <a:latin typeface="Arial"/>
              </a:rPr>
              <a:t>Full IMDIS Paper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5691104" y="38999160"/>
            <a:ext cx="13487400" cy="10058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5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3057A5"/>
                </a:solidFill>
                <a:latin typeface="Arial"/>
              </a:rPr>
              <a:t>Open-Source Code: </a:t>
            </a:r>
            <a:r>
              <a:rPr>
                <a:solidFill>
                  <a:srgbClr val="1E293B"/>
                </a:solidFill>
                <a:latin typeface="Arial"/>
              </a:rPr>
              <a:t>github.com/marine-term-translations/mtt-self-host-platform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" y="40553640"/>
            <a:ext cx="28721304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97280" y="40672512"/>
            <a:ext cx="18379440" cy="1353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175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  <a:latin typeface="Arial"/>
              </a:rPr>
              <a:t>References: </a:t>
            </a:r>
            <a:r>
              <a:rPr>
                <a:solidFill>
                  <a:srgbClr val="1E293B"/>
                </a:solidFill>
                <a:latin typeface="Arial"/>
              </a:rPr>
              <a:t>[1] Wilkinson et al. (2016). Sci. Data.   [2] BODC (2024). NERC P02.   [3] Colpaert et al. (2021). LDES.   [4] Decruw (2024). MTT GitHub.</a:t>
            </a:r>
          </a:p>
          <a:p>
            <a:pPr>
              <a:defRPr sz="175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  <a:latin typeface="Arial"/>
              </a:rPr>
              <a:t>AI Disclosure: </a:t>
            </a:r>
            <a:r>
              <a:rPr>
                <a:solidFill>
                  <a:srgbClr val="1E293B"/>
                </a:solidFill>
                <a:latin typeface="Arial"/>
              </a:rPr>
              <a:t>Assisted with language polish and schematic layout; system design and evaluation by the author.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9979640" y="40782240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3057A5"/>
                </a:solidFill>
                <a:latin typeface="Arial"/>
              </a:defRPr>
            </a:pPr>
            <a:r>
              <a:rPr b="1">
                <a:solidFill>
                  <a:srgbClr val="3057A5"/>
                </a:solidFill>
                <a:latin typeface="Arial"/>
              </a:rPr>
              <a:t>[ Partner / Funder Logo 1 ]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4734520" y="40782240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3057A5"/>
                </a:solidFill>
                <a:latin typeface="Arial"/>
              </a:defRPr>
            </a:pPr>
            <a:r>
              <a:rPr b="1">
                <a:solidFill>
                  <a:srgbClr val="3057A5"/>
                </a:solidFill>
                <a:latin typeface="Arial"/>
              </a:rPr>
              <a:t>[ Partner / Funder Logo 2 ]</a:t>
            </a:r>
          </a:p>
        </p:txBody>
      </p:sp>
      <p:sp>
        <p:nvSpPr>
          <p:cNvPr id="49" name="Rounded Rectangle 8">
            <a:extLst>
              <a:ext uri="{FF2B5EF4-FFF2-40B4-BE49-F238E27FC236}">
                <a16:creationId xmlns:a16="http://schemas.microsoft.com/office/drawing/2014/main" id="{D4882959-92BD-970D-1B39-C099EF27C5AB}"/>
              </a:ext>
            </a:extLst>
          </p:cNvPr>
          <p:cNvSpPr/>
          <p:nvPr/>
        </p:nvSpPr>
        <p:spPr>
          <a:xfrm>
            <a:off x="15839694" y="502920"/>
            <a:ext cx="6309360" cy="37947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25400">
            <a:solidFill>
              <a:srgbClr val="31B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3057A5"/>
                </a:solidFill>
                <a:latin typeface="Arial"/>
              </a:rPr>
              <a:t>[ IMDIS 2026 Logo ]</a:t>
            </a:r>
          </a:p>
          <a:p>
            <a:pPr algn="ctr">
              <a:defRPr sz="1800">
                <a:solidFill>
                  <a:srgbClr val="64748B"/>
                </a:solidFill>
                <a:latin typeface="Arial"/>
              </a:defRPr>
            </a:pPr>
            <a:r>
              <a:rPr>
                <a:solidFill>
                  <a:srgbClr val="64748B"/>
                </a:solidFill>
                <a:latin typeface="Arial"/>
              </a:rPr>
              <a:t>Reserved Conference Logo Space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565</Words>
  <Application>Microsoft Office PowerPoint</Application>
  <PresentationFormat>Custom</PresentationFormat>
  <Paragraphs>55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Cedric Decruw</cp:lastModifiedBy>
  <cp:revision>2</cp:revision>
  <dcterms:created xsi:type="dcterms:W3CDTF">2013-01-27T09:14:16Z</dcterms:created>
  <dcterms:modified xsi:type="dcterms:W3CDTF">2026-10-28T09:26:51Z</dcterms:modified>
  <cp:category/>
</cp:coreProperties>
</file>