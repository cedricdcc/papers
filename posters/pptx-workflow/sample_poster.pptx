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42062400" cy="3840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rIns="731520" tIns="457200" bIns="365760"/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Deep Research and Scalable Scientific Discovery with Agentic AI</a:t>
            </a:r>
          </a:p>
          <a:p>
            <a:pPr algn="ctr">
              <a:spcBef>
                <a:spcPts val="1400"/>
              </a:spcBef>
              <a:defRPr sz="2800" b="1">
                <a:solidFill>
                  <a:srgbClr val="38BDF8"/>
                </a:solidFill>
                <a:latin typeface="Arial"/>
              </a:defRPr>
            </a:pPr>
            <a:r>
              <a:t>Alex R. Mercer¹, Elena Rostova², David Chen¹</a:t>
            </a:r>
          </a:p>
          <a:p>
            <a:pPr algn="ctr">
              <a:spcBef>
                <a:spcPts val="600"/>
              </a:spcBef>
              <a:defRPr sz="2200">
                <a:solidFill>
                  <a:srgbClr val="CBD5E1"/>
                </a:solidFill>
                <a:latin typeface="Arial"/>
              </a:defRPr>
            </a:pPr>
            <a:r>
              <a:t>¹Department of Computer Science, University of Technology  |  ²Institute for Advanced Discovery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13563600" cy="1143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200"/>
              </a:spcAft>
              <a:defRPr sz="2800" b="1">
                <a:solidFill>
                  <a:srgbClr val="0284C7"/>
                </a:solidFill>
                <a:latin typeface="Arial"/>
              </a:defRPr>
            </a:pPr>
            <a:r>
              <a:t>1. INTRODUCTION &amp; BACKGROUND</a:t>
            </a:r>
          </a:p>
          <a:p>
            <a:pPr>
              <a:spcAft>
                <a:spcPts val="1000"/>
              </a:spcAft>
              <a:defRPr sz="2200" b="0">
                <a:solidFill>
                  <a:srgbClr val="1E293B"/>
                </a:solidFill>
                <a:latin typeface="Arial"/>
              </a:defRPr>
            </a:pPr>
            <a:r>
              <a:t>Scientific research generation is shifting from manual composition to agentic workflows that orchestrate deep search and verifiable synthesis.</a:t>
            </a:r>
          </a:p>
          <a:p>
            <a:pPr>
              <a:spcAft>
                <a:spcPts val="6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Key Challenges in Academic Writing: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• Unverified citations and hallucinated bibliographic metadata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• Inconsistent visual hierarchy across figures, schematics, and text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• Fragmented tooling between literature retrieval and typesetting</a:t>
            </a:r>
          </a:p>
          <a:p>
            <a:pPr>
              <a:spcAft>
                <a:spcPts val="6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Research Goal:</a:t>
            </a:r>
          </a:p>
          <a:p>
            <a:pPr>
              <a:spcAft>
                <a:spcPts val="800"/>
              </a:spcAft>
              <a:defRPr sz="2200" b="0">
                <a:solidFill>
                  <a:srgbClr val="1E293B"/>
                </a:solidFill>
                <a:latin typeface="Arial"/>
              </a:defRPr>
            </a:pPr>
            <a:r>
              <a:t>To establish an end-to-end autonomous research synthesis pipeline that pairs real-time literature retrieval with rigorous formatting and verification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0"/>
            <a:ext cx="13563600" cy="1463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200"/>
              </a:spcAft>
              <a:defRPr sz="2800" b="1">
                <a:solidFill>
                  <a:srgbClr val="0284C7"/>
                </a:solidFill>
                <a:latin typeface="Arial"/>
              </a:defRPr>
            </a:pPr>
            <a:r>
              <a:t>2. SYSTEM ARCHITECTURE</a:t>
            </a:r>
          </a:p>
          <a:p>
            <a:pPr>
              <a:spcAft>
                <a:spcPts val="1000"/>
              </a:spcAft>
              <a:defRPr sz="2200" b="0">
                <a:solidFill>
                  <a:srgbClr val="1E293B"/>
                </a:solidFill>
                <a:latin typeface="Arial"/>
              </a:defRPr>
            </a:pPr>
            <a:r>
              <a:t>Our framework integrates three synchronized sub-agents:</a:t>
            </a:r>
          </a:p>
          <a:p>
            <a:pPr>
              <a:spcAft>
                <a:spcPts val="800"/>
              </a:spcAft>
              <a:defRPr sz="2100" b="1">
                <a:solidFill>
                  <a:srgbClr val="1E293B"/>
                </a:solidFill>
                <a:latin typeface="Arial"/>
              </a:defRPr>
            </a:pPr>
            <a:r>
              <a:t>1. Research &amp; Retrieval Agent: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Queries academic indices, validates DOIs, and stores verified BibTeX.</a:t>
            </a:r>
          </a:p>
          <a:p>
            <a:pPr>
              <a:spcAft>
                <a:spcPts val="800"/>
              </a:spcAft>
              <a:defRPr sz="2100" b="1">
                <a:solidFill>
                  <a:srgbClr val="1E293B"/>
                </a:solidFill>
                <a:latin typeface="Arial"/>
              </a:defRPr>
            </a:pPr>
            <a:r>
              <a:t>2. Synthesis &amp; Layout Engine: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Transforms verified data into publication-ready LaTeX / PPTX posters.</a:t>
            </a:r>
          </a:p>
          <a:p>
            <a:pPr>
              <a:spcAft>
                <a:spcPts val="800"/>
              </a:spcAft>
              <a:defRPr sz="2100" b="1">
                <a:solidFill>
                  <a:srgbClr val="1E293B"/>
                </a:solidFill>
                <a:latin typeface="Arial"/>
              </a:defRPr>
            </a:pPr>
            <a:r>
              <a:t>3. Visual Quality &amp; Audit Subagent: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Enforces DPI &gt;= 300, checks WCAG contrast, and eliminates overlaps.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163800" y="5120640"/>
            <a:ext cx="13563600" cy="1280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200"/>
              </a:spcAft>
              <a:defRPr sz="2800" b="1">
                <a:solidFill>
                  <a:srgbClr val="0284C7"/>
                </a:solidFill>
                <a:latin typeface="Arial"/>
              </a:defRPr>
            </a:pPr>
            <a:r>
              <a:t>3. METHODOLOGY &amp; VERIFICATION GATES</a:t>
            </a:r>
          </a:p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Strict Quality Assurance Protocol: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• Zero-Tolerance Citation Check: All references verified against primary publisher endpoints.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• Minimum Font Constraint: Guaranteed body &gt;= 22pt, headers &gt;= 32pt for 6-foot readability.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• Dynamic Column Binning: Auto-balancing column heights to ensure 50%+ whitespace.</a:t>
            </a:r>
          </a:p>
          <a:p>
            <a:pPr>
              <a:spcAft>
                <a:spcPts val="6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Experimental Benchmark:</a:t>
            </a:r>
          </a:p>
          <a:p>
            <a:pPr>
              <a:spcAft>
                <a:spcPts val="800"/>
              </a:spcAft>
              <a:defRPr sz="2100" b="0">
                <a:solidFill>
                  <a:srgbClr val="1E293B"/>
                </a:solidFill>
                <a:latin typeface="Arial"/>
              </a:defRPr>
            </a:pPr>
            <a:r>
              <a:t>Tested across 150 conference posters in AI, biology, and materials science.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63800" y="18288000"/>
            <a:ext cx="13563600" cy="1325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200"/>
              </a:spcAft>
              <a:defRPr sz="2800" b="1">
                <a:solidFill>
                  <a:srgbClr val="0284C7"/>
                </a:solidFill>
                <a:latin typeface="Arial"/>
              </a:defRPr>
            </a:pPr>
            <a:r>
              <a:t>4. KEY PERFORMANCE INDICATORS</a:t>
            </a:r>
          </a:p>
          <a:p>
            <a:pPr>
              <a:spcAft>
                <a:spcPts val="10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Comparative Benchmark Metrics:</a:t>
            </a:r>
          </a:p>
          <a:p>
            <a:pPr>
              <a:spcAft>
                <a:spcPts val="800"/>
              </a:spcAft>
              <a:defRPr sz="2100" b="0">
                <a:solidFill>
                  <a:srgbClr val="1E293B"/>
                </a:solidFill>
                <a:latin typeface="Arial"/>
              </a:defRPr>
            </a:pPr>
            <a:r>
              <a:t>• Citation Precision: 99.8% verified metadata (vs 74.2% baseline LLM)</a:t>
            </a:r>
          </a:p>
          <a:p>
            <a:pPr>
              <a:spcAft>
                <a:spcPts val="800"/>
              </a:spcAft>
              <a:defRPr sz="2100" b="0">
                <a:solidFill>
                  <a:srgbClr val="1E293B"/>
                </a:solidFill>
                <a:latin typeface="Arial"/>
              </a:defRPr>
            </a:pPr>
            <a:r>
              <a:t>• Visual Formatting Errors: 0 collisions detected across 150 test builds</a:t>
            </a:r>
          </a:p>
          <a:p>
            <a:pPr>
              <a:spcAft>
                <a:spcPts val="800"/>
              </a:spcAft>
              <a:defRPr sz="2100" b="0">
                <a:solidFill>
                  <a:srgbClr val="1E293B"/>
                </a:solidFill>
                <a:latin typeface="Arial"/>
              </a:defRPr>
            </a:pPr>
            <a:r>
              <a:t>• Generation Turnaround: 4.2 minutes per full publication-ready poster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13200" y="5120640"/>
            <a:ext cx="13563600" cy="1188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200"/>
              </a:spcAft>
              <a:defRPr sz="2800" b="1">
                <a:solidFill>
                  <a:srgbClr val="0284C7"/>
                </a:solidFill>
                <a:latin typeface="Arial"/>
              </a:defRPr>
            </a:pPr>
            <a:r>
              <a:t>5. EXPERIMENTAL RESULTS</a:t>
            </a:r>
          </a:p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Evaluation Findings: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• Multi-column layout achieves 98.4% readability score from conference reviewers.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• Automated print DPI verification eliminated blurred raster graphics entirely.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• Strict contrast checking ensures full accessibility for color-deficient readers.</a:t>
            </a:r>
          </a:p>
          <a:p>
            <a:pPr>
              <a:spcAft>
                <a:spcPts val="6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Discussion:</a:t>
            </a:r>
          </a:p>
          <a:p>
            <a:pPr>
              <a:spcAft>
                <a:spcPts val="8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Bounded manifest-driven generation guarantees that conference printer requirements are never violated.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13200" y="17373600"/>
            <a:ext cx="13563600" cy="1417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 bIns="365760"/>
          <a:lstStyle/>
          <a:p>
            <a:pPr algn="ctr">
              <a:spcAft>
                <a:spcPts val="1200"/>
              </a:spcAft>
              <a:defRPr sz="2800" b="1">
                <a:solidFill>
                  <a:srgbClr val="0284C7"/>
                </a:solidFill>
                <a:latin typeface="Arial"/>
              </a:defRPr>
            </a:pPr>
            <a:r>
              <a:t>6. CONCLUSIONS &amp; REFERENCES</a:t>
            </a:r>
          </a:p>
          <a:p>
            <a:pPr>
              <a:spcAft>
                <a:spcPts val="6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Conclusions:</a:t>
            </a:r>
          </a:p>
          <a:p>
            <a:pPr>
              <a:spcAft>
                <a:spcPts val="1000"/>
              </a:spcAft>
              <a:defRPr sz="2000" b="0">
                <a:solidFill>
                  <a:srgbClr val="1E293B"/>
                </a:solidFill>
                <a:latin typeface="Arial"/>
              </a:defRPr>
            </a:pPr>
            <a:r>
              <a:t>Autonomous agentic synthesis coupled with deterministic layout compilers provides a robust standard for scientific communication.</a:t>
            </a:r>
          </a:p>
          <a:p>
            <a:pPr>
              <a:spcAft>
                <a:spcPts val="400"/>
              </a:spcAft>
              <a:defRPr sz="2000" b="1">
                <a:solidFill>
                  <a:srgbClr val="1E293B"/>
                </a:solidFill>
                <a:latin typeface="Arial"/>
              </a:defRPr>
            </a:pPr>
            <a:r>
              <a:t>Selected References:</a:t>
            </a:r>
          </a:p>
          <a:p>
            <a:pPr>
              <a:spcAft>
                <a:spcPts val="800"/>
              </a:spcAft>
              <a:defRPr sz="1700" b="0">
                <a:solidFill>
                  <a:srgbClr val="64748B"/>
                </a:solidFill>
                <a:latin typeface="Arial"/>
              </a:defRPr>
            </a:pPr>
            <a:r>
              <a:t>[1] Mercer et al. (2025). Agentic Writing Pipelines. J. AI Res.</a:t>
            </a:r>
          </a:p>
          <a:p>
            <a:pPr>
              <a:spcAft>
                <a:spcPts val="800"/>
              </a:spcAft>
              <a:defRPr sz="1700" b="0">
                <a:solidFill>
                  <a:srgbClr val="64748B"/>
                </a:solidFill>
                <a:latin typeface="Arial"/>
              </a:defRPr>
            </a:pPr>
            <a:r>
              <a:t>[2] Chen &amp; Rostova (2024). Verifiable Scientific Synthesis. NeurIPS.</a:t>
            </a:r>
          </a:p>
          <a:p>
            <a:pPr>
              <a:spcAft>
                <a:spcPts val="200"/>
              </a:spcAft>
              <a:defRPr sz="1900" b="1">
                <a:solidFill>
                  <a:srgbClr val="1E293B"/>
                </a:solidFill>
                <a:latin typeface="Arial"/>
              </a:defRPr>
            </a:pPr>
            <a:r>
              <a:t>Contact &amp; Code: github.com/cedricdcc/papers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0"/>
            <a:ext cx="4206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  <a:latin typeface="Arial"/>
              </a:defRPr>
            </a:pPr>
            <a:r>
              <a:t>Presented at the 2026 International Conference on Scientific Agentic AI | Supported by Open Grant #8841-B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